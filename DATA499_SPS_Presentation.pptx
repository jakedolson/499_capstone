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2.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3.xml" ContentType="application/vnd.openxmlformats-officedocument.presentationml.comments+xml"/>
  <Override PartName="/ppt/notesSlides/notesSlide13.xml" ContentType="application/vnd.openxmlformats-officedocument.presentationml.notesSlide+xml"/>
  <Override PartName="/ppt/comments/comment4.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Merriweather" panose="00000500000000000000" pitchFamily="2" charset="0"/>
      <p:regular r:id="rId24"/>
      <p:bold r:id="rId25"/>
      <p:italic r:id="rId26"/>
      <p:boldItalic r:id="rId27"/>
    </p:embeddedFont>
    <p:embeddedFont>
      <p:font typeface="Roboto"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ake Olson" initials="" lastIdx="4" clrIdx="0"/>
  <p:cmAuthor id="1" name="Jon Duea" initials="" lastIdx="3"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549" autoAdjust="0"/>
  </p:normalViewPr>
  <p:slideViewPr>
    <p:cSldViewPr snapToGrid="0">
      <p:cViewPr varScale="1">
        <p:scale>
          <a:sx n="93" d="100"/>
          <a:sy n="93" d="100"/>
        </p:scale>
        <p:origin x="1428"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12-05T20:41:59.816" idx="1">
    <p:pos x="6000" y="0"/>
    <p:text>Im thinking something like this will look better than a table of contents.</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5-12-11T21:49:52.692" idx="1">
    <p:pos x="6000" y="0"/>
    <p:text>I don't see  the % of organizations that had store gaps vs didn't mentioned anywhere so maybe we might wanna mention it here?</p:text>
  </p:cm>
  <p:cm authorId="0" dt="2025-12-11T21:49:52.692" idx="2">
    <p:pos x="6000" y="0"/>
    <p:text>sound good, I can definitely do that. I can move my explanation of store gap and has store gap to slide 10</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5-12-11T20:19:05.977" idx="2">
    <p:pos x="6000" y="0"/>
    <p:text>Yeah so the main reason I generated that graph in the first place was because I wanted to see if we needed to treat the presence of a store gap for an org in industry x differently than we would for an org in industry y.
For example, if an industry had a significant difference in doc flow between the orgs that had store gaps and those that didn't it might have made sense to consider factoring that into our ranking, but since there's no evidence of any statistically significant differences within industries and even between industries looking into that any further kind of stopped there.
1 total reaction
Jake Olson reacted with 👍 at 2025-12-11 21:38 PM</p:text>
  </p:cm>
  <p:cm authorId="0" dt="2025-12-11T21:38:37.129" idx="3">
    <p:pos x="6000" y="0"/>
    <p:text>feel like I'm missing context for this slide. any one else have suggestions?</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5-12-11T20:21:23.175" idx="3">
    <p:pos x="6000" y="0"/>
    <p:text>Up to Nick, I don't really mind. If we were gonna get rid of one get rid of the pairplot
1 total reaction
Jake Olson reacted with 👍 at 2025-12-11 21:20 PM</p:text>
  </p:cm>
  <p:cm authorId="0" dt="2025-12-11T21:20:46.631" idx="4">
    <p:pos x="6000" y="0"/>
    <p:text>should we pick one of these graphs and add some bullet points?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Peyton</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c59994657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c5999465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Peyton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adf90faadb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adf90faad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Kyle - This is intended to just be a vague overview of what we’ve done with the data. Think about handing off the API calls and running the python script, building the database, ETC.</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ac59994657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ac5999465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Initial Transaction count before cleaning: 7,386,138</a:t>
            </a:r>
            <a:endParaRPr dirty="0"/>
          </a:p>
          <a:p>
            <a:pPr marL="0" lvl="0" indent="0" algn="l" rtl="0">
              <a:spcBef>
                <a:spcPts val="0"/>
              </a:spcBef>
              <a:spcAft>
                <a:spcPts val="0"/>
              </a:spcAft>
              <a:buNone/>
            </a:pPr>
            <a:r>
              <a:rPr lang="en" dirty="0"/>
              <a:t>Initial Customer Records: 30,903</a:t>
            </a:r>
            <a:endParaRPr dirty="0"/>
          </a:p>
          <a:p>
            <a:pPr marL="0" lvl="0" indent="0" algn="l" rtl="0">
              <a:spcBef>
                <a:spcPts val="0"/>
              </a:spcBef>
              <a:spcAft>
                <a:spcPts val="0"/>
              </a:spcAft>
              <a:buNone/>
            </a:pPr>
            <a:r>
              <a:rPr lang="en" dirty="0"/>
              <a:t>Customer cleaning steps:</a:t>
            </a:r>
            <a:endParaRPr dirty="0"/>
          </a:p>
          <a:p>
            <a:pPr marL="457200" lvl="0" indent="-298450" algn="l" rtl="0">
              <a:spcBef>
                <a:spcPts val="0"/>
              </a:spcBef>
              <a:spcAft>
                <a:spcPts val="0"/>
              </a:spcAft>
              <a:buSzPts val="1100"/>
              <a:buChar char="-"/>
            </a:pPr>
            <a:r>
              <a:rPr lang="en" dirty="0"/>
              <a:t>Drop unused customer columns</a:t>
            </a:r>
            <a:endParaRPr dirty="0"/>
          </a:p>
          <a:p>
            <a:pPr marL="457200" lvl="0" indent="-298450" algn="l" rtl="0">
              <a:spcBef>
                <a:spcPts val="0"/>
              </a:spcBef>
              <a:spcAft>
                <a:spcPts val="0"/>
              </a:spcAft>
              <a:buSzPts val="1100"/>
              <a:buChar char="-"/>
            </a:pPr>
            <a:r>
              <a:rPr lang="en" dirty="0"/>
              <a:t>Strip whitespace from ORG ID</a:t>
            </a:r>
            <a:endParaRPr dirty="0"/>
          </a:p>
          <a:p>
            <a:pPr marL="457200" lvl="0" indent="-298450" algn="l" rtl="0">
              <a:spcBef>
                <a:spcPts val="0"/>
              </a:spcBef>
              <a:spcAft>
                <a:spcPts val="0"/>
              </a:spcAft>
              <a:buSzPts val="1100"/>
              <a:buChar char="-"/>
            </a:pPr>
            <a:r>
              <a:rPr lang="en" dirty="0"/>
              <a:t>Removed approximately 70 NA/Duplicate ORG IDs</a:t>
            </a:r>
            <a:endParaRPr dirty="0"/>
          </a:p>
          <a:p>
            <a:pPr marL="0" lvl="0" indent="0" algn="l" rtl="0">
              <a:spcBef>
                <a:spcPts val="0"/>
              </a:spcBef>
              <a:spcAft>
                <a:spcPts val="0"/>
              </a:spcAft>
              <a:buNone/>
            </a:pPr>
            <a:r>
              <a:rPr lang="en" dirty="0"/>
              <a:t>Transaction cleaning steps:</a:t>
            </a:r>
            <a:endParaRPr dirty="0"/>
          </a:p>
          <a:p>
            <a:pPr marL="457200" lvl="0" indent="-298450" algn="l" rtl="0">
              <a:spcBef>
                <a:spcPts val="0"/>
              </a:spcBef>
              <a:spcAft>
                <a:spcPts val="0"/>
              </a:spcAft>
              <a:buSzPts val="1100"/>
              <a:buChar char="-"/>
            </a:pPr>
            <a:r>
              <a:rPr lang="en" dirty="0"/>
              <a:t>Keep only transactions that have customer details associated with them</a:t>
            </a:r>
            <a:endParaRPr dirty="0"/>
          </a:p>
          <a:p>
            <a:pPr marL="457200" lvl="0" indent="-298450" algn="l" rtl="0">
              <a:spcBef>
                <a:spcPts val="0"/>
              </a:spcBef>
              <a:spcAft>
                <a:spcPts val="0"/>
              </a:spcAft>
              <a:buSzPts val="1100"/>
              <a:buChar char="-"/>
            </a:pPr>
            <a:r>
              <a:rPr lang="en" dirty="0"/>
              <a:t>Remove all non-digit characters</a:t>
            </a:r>
            <a:endParaRPr dirty="0"/>
          </a:p>
          <a:p>
            <a:pPr marL="457200" lvl="0" indent="-298450" algn="l" rtl="0">
              <a:spcBef>
                <a:spcPts val="0"/>
              </a:spcBef>
              <a:spcAft>
                <a:spcPts val="0"/>
              </a:spcAft>
              <a:buSzPts val="1100"/>
              <a:buChar char="-"/>
            </a:pPr>
            <a:r>
              <a:rPr lang="en" dirty="0"/>
              <a:t>Null out duplicate codes with leading zeros removed, since a code with a 0 in front is treated the same as a code without the zero when retrieving data for it from the itemdb</a:t>
            </a:r>
            <a:endParaRPr dirty="0"/>
          </a:p>
          <a:p>
            <a:pPr marL="457200" lvl="0" indent="-298450" algn="l" rtl="0">
              <a:spcBef>
                <a:spcPts val="0"/>
              </a:spcBef>
              <a:spcAft>
                <a:spcPts val="0"/>
              </a:spcAft>
              <a:buSzPts val="1100"/>
              <a:buChar char="-"/>
            </a:pPr>
            <a:r>
              <a:rPr lang="en" dirty="0"/>
              <a:t>Filter out any product codes that aren’t 11-14 digits in length.</a:t>
            </a:r>
            <a:endParaRPr dirty="0"/>
          </a:p>
          <a:p>
            <a:pPr marL="457200" lvl="0" indent="-298450" algn="l" rtl="0">
              <a:spcBef>
                <a:spcPts val="0"/>
              </a:spcBef>
              <a:spcAft>
                <a:spcPts val="0"/>
              </a:spcAft>
              <a:buSzPts val="1100"/>
              <a:buChar char="-"/>
            </a:pPr>
            <a:r>
              <a:rPr lang="en" dirty="0"/>
              <a:t>Drop any duplicates remaining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After the transaction cleaning we go back and filter out any customers that now have 0 transactions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After Cleaning counts:</a:t>
            </a:r>
            <a:endParaRPr dirty="0"/>
          </a:p>
          <a:p>
            <a:pPr marL="0" lvl="0" indent="0" algn="l" rtl="0">
              <a:spcBef>
                <a:spcPts val="0"/>
              </a:spcBef>
              <a:spcAft>
                <a:spcPts val="0"/>
              </a:spcAft>
              <a:buNone/>
            </a:pPr>
            <a:r>
              <a:rPr lang="en" dirty="0"/>
              <a:t>Transactions 941,740 (approx 88% reduction)</a:t>
            </a:r>
            <a:endParaRPr dirty="0"/>
          </a:p>
          <a:p>
            <a:pPr marL="0" lvl="0" indent="0" algn="l" rtl="0">
              <a:spcBef>
                <a:spcPts val="0"/>
              </a:spcBef>
              <a:spcAft>
                <a:spcPts val="0"/>
              </a:spcAft>
              <a:buNone/>
            </a:pPr>
            <a:r>
              <a:rPr lang="en" dirty="0"/>
              <a:t>Organizations 6,433</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At this time, missing annual revenue values were filled from the industry median available, and revenue ranges calculated based on annual revenue values, as well as filling any missing Industry ORG, Industry Vertical, and Industry Segment values with ‘Unknown’</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add7f6aa9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add7f6aa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Jon</a:t>
            </a:r>
            <a:endParaRPr/>
          </a:p>
          <a:p>
            <a:pPr marL="0" lvl="0" indent="0" algn="l" rtl="0">
              <a:spcBef>
                <a:spcPts val="0"/>
              </a:spcBef>
              <a:spcAft>
                <a:spcPts val="0"/>
              </a:spcAft>
              <a:buNone/>
            </a:pPr>
            <a:endParaRPr/>
          </a:p>
          <a:p>
            <a:pPr marL="0" lvl="0" indent="0" algn="l" rtl="0">
              <a:spcBef>
                <a:spcPts val="0"/>
              </a:spcBef>
              <a:spcAft>
                <a:spcPts val="0"/>
              </a:spcAft>
              <a:buNone/>
            </a:pPr>
            <a:r>
              <a:rPr lang="en"/>
              <a:t>Due to time/api limits we set a target of 450,000 items to collect data from the ItemDB api for.</a:t>
            </a:r>
            <a:br>
              <a:rPr lang="en"/>
            </a:br>
            <a:br>
              <a:rPr lang="en"/>
            </a:br>
            <a:r>
              <a:rPr lang="en"/>
              <a:t>This presents a sampling problem where we wanted to maximize the number of organizations we could cover while still staying within our target limit of api calls we’d have to make.</a:t>
            </a:r>
            <a:endParaRPr/>
          </a:p>
          <a:p>
            <a:pPr marL="0" lvl="0" indent="0" algn="l" rtl="0">
              <a:spcBef>
                <a:spcPts val="0"/>
              </a:spcBef>
              <a:spcAft>
                <a:spcPts val="0"/>
              </a:spcAft>
              <a:buNone/>
            </a:pPr>
            <a:endParaRPr/>
          </a:p>
          <a:p>
            <a:pPr marL="0" lvl="0" indent="0" algn="l" rtl="0">
              <a:spcBef>
                <a:spcPts val="0"/>
              </a:spcBef>
              <a:spcAft>
                <a:spcPts val="0"/>
              </a:spcAft>
              <a:buNone/>
            </a:pPr>
            <a:r>
              <a:rPr lang="en"/>
              <a:t>By starting with organizations with the lowest number of transactions and adding more organizations until we hit our target limit, we were able to achieve about 99% coverage of all the organizations we had cleaned transaction data for.</a:t>
            </a:r>
            <a:endParaRPr/>
          </a:p>
          <a:p>
            <a:pPr marL="0" lvl="0" indent="0" algn="l" rtl="0">
              <a:spcBef>
                <a:spcPts val="0"/>
              </a:spcBef>
              <a:spcAft>
                <a:spcPts val="0"/>
              </a:spcAft>
              <a:buNone/>
            </a:pPr>
            <a:endParaRPr/>
          </a:p>
          <a:p>
            <a:pPr marL="0" lvl="0" indent="0" algn="l" rtl="0">
              <a:spcBef>
                <a:spcPts val="0"/>
              </a:spcBef>
              <a:spcAft>
                <a:spcPts val="0"/>
              </a:spcAft>
              <a:buNone/>
            </a:pPr>
            <a:r>
              <a:rPr lang="en"/>
              <a:t>This 450k sample is what we used for making the api calls.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ac59994657_1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ac59994657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Nick</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Throughout this project, we built out the necessary database structure and API integrations to support the analysis. We began by creating the Customers and Transactions tables, using the cleaned CSV files provided through the ORG GitHub. All individual transaction files were consolidated into a single Transactions table, preserving the original data.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After establishing the base tables, we moved into making the required API calls. The API process generated two additional tables. The first was the Product Providers table, which stores the distinct customer package codes found within the Transactions table, the API URL used for each request, and the corresponding API response were stored for reference. The second table was the UPC Offers, which contains the individual line-items of each offer returned for each customer package code. </a:t>
            </a:r>
            <a:endParaRPr dirty="0"/>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ac59994657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ac59994657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Jon</a:t>
            </a:r>
            <a:endParaRPr/>
          </a:p>
          <a:p>
            <a:pPr marL="0" lvl="0" indent="0" algn="l" rtl="0">
              <a:spcBef>
                <a:spcPts val="0"/>
              </a:spcBef>
              <a:spcAft>
                <a:spcPts val="0"/>
              </a:spcAft>
              <a:buNone/>
            </a:pPr>
            <a:endParaRPr/>
          </a:p>
          <a:p>
            <a:pPr marL="0" lvl="0" indent="0" algn="l" rtl="0">
              <a:spcBef>
                <a:spcPts val="0"/>
              </a:spcBef>
              <a:spcAft>
                <a:spcPts val="0"/>
              </a:spcAft>
              <a:buNone/>
            </a:pPr>
            <a:r>
              <a:rPr lang="en"/>
              <a:t>After getting the Data back from making our api calls, some extra cleaning was necessary before moving on to our ranking/analysis.</a:t>
            </a:r>
            <a:endParaRPr/>
          </a:p>
          <a:p>
            <a:pPr marL="0" lvl="0" indent="0" algn="l" rtl="0">
              <a:spcBef>
                <a:spcPts val="0"/>
              </a:spcBef>
              <a:spcAft>
                <a:spcPts val="0"/>
              </a:spcAft>
              <a:buNone/>
            </a:pPr>
            <a:endParaRPr/>
          </a:p>
          <a:p>
            <a:pPr marL="0" lvl="0" indent="0" algn="l" rtl="0">
              <a:spcBef>
                <a:spcPts val="0"/>
              </a:spcBef>
              <a:spcAft>
                <a:spcPts val="0"/>
              </a:spcAft>
              <a:buNone/>
            </a:pPr>
            <a:r>
              <a:rPr lang="en"/>
              <a:t>Organizations:</a:t>
            </a:r>
            <a:endParaRPr/>
          </a:p>
          <a:p>
            <a:pPr marL="457200" lvl="0" indent="-298450" algn="l" rtl="0">
              <a:spcBef>
                <a:spcPts val="0"/>
              </a:spcBef>
              <a:spcAft>
                <a:spcPts val="0"/>
              </a:spcAft>
              <a:buSzPts val="1100"/>
              <a:buAutoNum type="arabicPeriod"/>
            </a:pPr>
            <a:r>
              <a:rPr lang="en"/>
              <a:t>Organizations with T&amp;C product status were identified as organizations we should not be considering in our analysis, which about 28% of the organizations in our sample were so we dropped those.</a:t>
            </a:r>
            <a:endParaRPr/>
          </a:p>
          <a:p>
            <a:pPr marL="0" lvl="0" indent="0" algn="l" rtl="0">
              <a:spcBef>
                <a:spcPts val="0"/>
              </a:spcBef>
              <a:spcAft>
                <a:spcPts val="0"/>
              </a:spcAft>
              <a:buNone/>
            </a:pPr>
            <a:endParaRPr/>
          </a:p>
          <a:p>
            <a:pPr marL="0" lvl="0" indent="0" algn="l" rtl="0">
              <a:spcBef>
                <a:spcPts val="0"/>
              </a:spcBef>
              <a:spcAft>
                <a:spcPts val="0"/>
              </a:spcAft>
              <a:buNone/>
            </a:pPr>
            <a:r>
              <a:rPr lang="en"/>
              <a:t>Transactions:</a:t>
            </a:r>
            <a:endParaRPr/>
          </a:p>
          <a:p>
            <a:pPr marL="457200" lvl="0" indent="-298450" algn="l" rtl="0">
              <a:spcBef>
                <a:spcPts val="0"/>
              </a:spcBef>
              <a:spcAft>
                <a:spcPts val="0"/>
              </a:spcAft>
              <a:buSzPts val="1100"/>
              <a:buAutoNum type="arabicPeriod"/>
            </a:pPr>
            <a:r>
              <a:rPr lang="en"/>
              <a:t>ConsumerPackageCodes associated with multiple organizations should have been removed completely in our initial cleaning, dropping these removed about 5% of transactions.</a:t>
            </a:r>
            <a:endParaRPr/>
          </a:p>
          <a:p>
            <a:pPr marL="0" lvl="0" indent="0" algn="l" rtl="0">
              <a:spcBef>
                <a:spcPts val="0"/>
              </a:spcBef>
              <a:spcAft>
                <a:spcPts val="0"/>
              </a:spcAft>
              <a:buNone/>
            </a:pPr>
            <a:endParaRPr/>
          </a:p>
          <a:p>
            <a:pPr marL="0" lvl="0" indent="0" algn="l" rtl="0">
              <a:spcBef>
                <a:spcPts val="0"/>
              </a:spcBef>
              <a:spcAft>
                <a:spcPts val="0"/>
              </a:spcAft>
              <a:buNone/>
            </a:pPr>
            <a:r>
              <a:rPr lang="en"/>
              <a:t>Product Providers (API calls):</a:t>
            </a:r>
            <a:endParaRPr/>
          </a:p>
          <a:p>
            <a:pPr marL="457200" lvl="0" indent="-298450" algn="l" rtl="0">
              <a:spcBef>
                <a:spcPts val="0"/>
              </a:spcBef>
              <a:spcAft>
                <a:spcPts val="0"/>
              </a:spcAft>
              <a:buSzPts val="1100"/>
              <a:buAutoNum type="arabicPeriod"/>
            </a:pPr>
            <a:r>
              <a:rPr lang="en"/>
              <a:t>Only about 30% of the calls actually returned any api data, leaving us with about 132K records with item data.</a:t>
            </a:r>
            <a:endParaRPr/>
          </a:p>
          <a:p>
            <a:pPr marL="457200" lvl="0" indent="-298450" algn="l" rtl="0">
              <a:spcBef>
                <a:spcPts val="0"/>
              </a:spcBef>
              <a:spcAft>
                <a:spcPts val="0"/>
              </a:spcAft>
              <a:buSzPts val="1100"/>
              <a:buAutoNum type="arabicPeriod"/>
            </a:pPr>
            <a:r>
              <a:rPr lang="en"/>
              <a:t>About 3% of the items we did get data back for, didn’t have any offers associated with them so we removed those items as well.</a:t>
            </a:r>
            <a:endParaRPr/>
          </a:p>
          <a:p>
            <a:pPr marL="457200" lvl="0" indent="-298450" algn="l" rtl="0">
              <a:spcBef>
                <a:spcPts val="0"/>
              </a:spcBef>
              <a:spcAft>
                <a:spcPts val="0"/>
              </a:spcAft>
              <a:buSzPts val="1100"/>
              <a:buAutoNum type="arabicPeriod"/>
            </a:pPr>
            <a:r>
              <a:rPr lang="en"/>
              <a:t>After merging our data we got from the API calls with our transactions/organization data we were left with approx 174k offers related to 50kish items spread across 2505 organizations.</a:t>
            </a:r>
            <a:endParaRPr/>
          </a:p>
          <a:p>
            <a:pPr marL="0" lvl="0" indent="0" algn="l" rtl="0">
              <a:spcBef>
                <a:spcPts val="0"/>
              </a:spcBef>
              <a:spcAft>
                <a:spcPts val="0"/>
              </a:spcAft>
              <a:buNone/>
            </a:pPr>
            <a:endParaRPr/>
          </a:p>
          <a:p>
            <a:pPr marL="0" lvl="0" indent="0" algn="l" rtl="0">
              <a:spcBef>
                <a:spcPts val="0"/>
              </a:spcBef>
              <a:spcAft>
                <a:spcPts val="0"/>
              </a:spcAft>
              <a:buNone/>
            </a:pPr>
            <a:r>
              <a:rPr lang="en"/>
              <a:t>Offer Cleaning:</a:t>
            </a:r>
            <a:endParaRPr/>
          </a:p>
          <a:p>
            <a:pPr marL="457200" lvl="0" indent="-298450" algn="l" rtl="0">
              <a:spcBef>
                <a:spcPts val="0"/>
              </a:spcBef>
              <a:spcAft>
                <a:spcPts val="0"/>
              </a:spcAft>
              <a:buSzPts val="1100"/>
              <a:buAutoNum type="arabicPeriod"/>
            </a:pPr>
            <a:r>
              <a:rPr lang="en"/>
              <a:t>Approximately 20% of those offers were removed because they were last updated before the associated organizations first subscription date</a:t>
            </a:r>
            <a:endParaRPr/>
          </a:p>
          <a:p>
            <a:pPr marL="457200" lvl="0" indent="-298450" algn="l" rtl="0">
              <a:spcBef>
                <a:spcPts val="0"/>
              </a:spcBef>
              <a:spcAft>
                <a:spcPts val="0"/>
              </a:spcAft>
              <a:buSzPts val="1100"/>
              <a:buAutoNum type="arabicPeriod"/>
            </a:pPr>
            <a:r>
              <a:rPr lang="en"/>
              <a:t>Only about 500 offers were removed because they were offers for used items</a:t>
            </a:r>
            <a:endParaRPr/>
          </a:p>
          <a:p>
            <a:pPr marL="457200" lvl="0" indent="-298450" algn="l" rtl="0">
              <a:spcBef>
                <a:spcPts val="0"/>
              </a:spcBef>
              <a:spcAft>
                <a:spcPts val="0"/>
              </a:spcAft>
              <a:buSzPts val="1100"/>
              <a:buAutoNum type="arabicPeriod"/>
            </a:pPr>
            <a:r>
              <a:rPr lang="en"/>
              <a:t>After store matching/deduplication, another 5% of offers were removed resulting in approximately 133k unique offers to analyze.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adf90faadb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adf90faadb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595959"/>
                </a:solidFill>
              </a:rPr>
              <a:t>Jon</a:t>
            </a: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595959"/>
                </a:solidFill>
              </a:rPr>
              <a:t>Give a broad overview of the final dataset after all the cleanings done.</a:t>
            </a:r>
            <a:endParaRPr>
              <a:solidFill>
                <a:srgbClr val="595959"/>
              </a:solidFill>
            </a:endParaRPr>
          </a:p>
          <a:p>
            <a:pPr marL="0" lvl="0" indent="0" algn="l" rtl="0">
              <a:lnSpc>
                <a:spcPct val="115000"/>
              </a:lnSpc>
              <a:spcBef>
                <a:spcPts val="1200"/>
              </a:spcBef>
              <a:spcAft>
                <a:spcPts val="1200"/>
              </a:spcAft>
              <a:buClr>
                <a:schemeClr val="dk1"/>
              </a:buClr>
              <a:buSzPts val="1100"/>
              <a:buFont typeface="Arial"/>
              <a:buNone/>
            </a:pPr>
            <a:endParaRPr>
              <a:solidFill>
                <a:srgbClr val="595959"/>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c59994657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ac59994657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JO- </a:t>
            </a:r>
            <a:endParaRPr dirty="0"/>
          </a:p>
          <a:p>
            <a:pPr marL="0" lvl="0" indent="0" algn="l" rtl="0">
              <a:lnSpc>
                <a:spcPct val="115000"/>
              </a:lnSpc>
              <a:spcBef>
                <a:spcPts val="1200"/>
              </a:spcBef>
              <a:spcAft>
                <a:spcPts val="0"/>
              </a:spcAft>
              <a:buClr>
                <a:schemeClr val="dk1"/>
              </a:buClr>
              <a:buSzPts val="1100"/>
              <a:buFont typeface="Arial"/>
              <a:buNone/>
            </a:pPr>
            <a:r>
              <a:rPr lang="en" dirty="0"/>
              <a:t>We will be focusing on the modeling and exploration of our data for the rest of the presentation. First well go over some engineered features and log transformations. Then our Exploratory Data Analysis and lastly our ranking approach.</a:t>
            </a:r>
            <a:endParaRPr dirty="0"/>
          </a:p>
          <a:p>
            <a:pPr marL="0" lvl="0" indent="0" algn="l" rtl="0">
              <a:lnSpc>
                <a:spcPct val="115000"/>
              </a:lnSpc>
              <a:spcBef>
                <a:spcPts val="1200"/>
              </a:spcBef>
              <a:spcAft>
                <a:spcPts val="0"/>
              </a:spcAft>
              <a:buClr>
                <a:schemeClr val="dk1"/>
              </a:buClr>
              <a:buSzPts val="1100"/>
              <a:buFont typeface="Arial"/>
              <a:buNone/>
            </a:pPr>
            <a:r>
              <a:rPr lang="en" dirty="0"/>
              <a:t> </a:t>
            </a:r>
            <a:endParaRPr dirty="0"/>
          </a:p>
          <a:p>
            <a:pPr marL="0" lvl="0" indent="0" algn="l" rtl="0">
              <a:lnSpc>
                <a:spcPct val="115000"/>
              </a:lnSpc>
              <a:spcBef>
                <a:spcPts val="1200"/>
              </a:spcBef>
              <a:spcAft>
                <a:spcPts val="0"/>
              </a:spcAft>
              <a:buClr>
                <a:schemeClr val="dk1"/>
              </a:buClr>
              <a:buSzPts val="1100"/>
              <a:buFont typeface="Arial"/>
              <a:buNone/>
            </a:pPr>
            <a:r>
              <a:rPr lang="en" dirty="0"/>
              <a:t>Before jumping into rest of our feature engineering I want to explain the store_gap feature because you’ll hear that label a lot.</a:t>
            </a:r>
            <a:endParaRPr dirty="0"/>
          </a:p>
          <a:p>
            <a:pPr marL="0" lvl="0" indent="0" algn="l" rtl="0">
              <a:lnSpc>
                <a:spcPct val="115000"/>
              </a:lnSpc>
              <a:spcBef>
                <a:spcPts val="1200"/>
              </a:spcBef>
              <a:spcAft>
                <a:spcPts val="0"/>
              </a:spcAft>
              <a:buClr>
                <a:schemeClr val="dk1"/>
              </a:buClr>
              <a:buSzPts val="1100"/>
              <a:buFont typeface="Arial"/>
              <a:buNone/>
            </a:pPr>
            <a:r>
              <a:rPr lang="en" dirty="0"/>
              <a:t>So, “Store_gap” determines if ORG has missed opportunities within the organizations they service.</a:t>
            </a:r>
            <a:endParaRPr dirty="0"/>
          </a:p>
          <a:p>
            <a:pPr marL="0" lvl="0" indent="0" algn="l" rtl="0">
              <a:lnSpc>
                <a:spcPct val="115000"/>
              </a:lnSpc>
              <a:spcBef>
                <a:spcPts val="1200"/>
              </a:spcBef>
              <a:spcAft>
                <a:spcPts val="0"/>
              </a:spcAft>
              <a:buClr>
                <a:schemeClr val="dk1"/>
              </a:buClr>
              <a:buSzPts val="1100"/>
              <a:buFont typeface="Arial"/>
              <a:buNone/>
            </a:pPr>
            <a:r>
              <a:rPr lang="en" dirty="0"/>
              <a:t>We calculated this by taking the variables “customer_unique_store_count” (which was pulled from our API calls) and subtracting that from“customer_total_retailer_connections” which was provided by ORG. </a:t>
            </a:r>
            <a:endParaRPr dirty="0"/>
          </a:p>
          <a:p>
            <a:pPr marL="0" lvl="0" indent="0" algn="l" rtl="0">
              <a:lnSpc>
                <a:spcPct val="115000"/>
              </a:lnSpc>
              <a:spcBef>
                <a:spcPts val="1200"/>
              </a:spcBef>
              <a:spcAft>
                <a:spcPts val="0"/>
              </a:spcAft>
              <a:buClr>
                <a:schemeClr val="dk1"/>
              </a:buClr>
              <a:buSzPts val="1100"/>
              <a:buFont typeface="Arial"/>
              <a:buNone/>
            </a:pPr>
            <a:r>
              <a:rPr lang="en" dirty="0"/>
              <a:t>if unique store count is greater than ORG’s known total retailer then we have evidence that there are missed connections with that organization.</a:t>
            </a:r>
            <a:endParaRPr dirty="0"/>
          </a:p>
          <a:p>
            <a:pPr marL="0" lvl="0" indent="0" algn="l" rtl="0">
              <a:lnSpc>
                <a:spcPct val="115000"/>
              </a:lnSpc>
              <a:spcBef>
                <a:spcPts val="1200"/>
              </a:spcBef>
              <a:spcAft>
                <a:spcPts val="0"/>
              </a:spcAft>
              <a:buClr>
                <a:schemeClr val="dk1"/>
              </a:buClr>
              <a:buSzPts val="1100"/>
              <a:buFont typeface="Arial"/>
              <a:buNone/>
            </a:pPr>
            <a:r>
              <a:rPr lang="en" dirty="0"/>
              <a:t>We then used that Store_gap variable and converted it to a boolean called has_store_gap,</a:t>
            </a:r>
            <a:endParaRPr dirty="0"/>
          </a:p>
          <a:p>
            <a:pPr marL="0" lvl="0" indent="0" algn="l" rtl="0">
              <a:lnSpc>
                <a:spcPct val="115000"/>
              </a:lnSpc>
              <a:spcBef>
                <a:spcPts val="1200"/>
              </a:spcBef>
              <a:spcAft>
                <a:spcPts val="0"/>
              </a:spcAft>
              <a:buClr>
                <a:schemeClr val="dk1"/>
              </a:buClr>
              <a:buSzPts val="1100"/>
              <a:buFont typeface="Arial"/>
              <a:buNone/>
            </a:pPr>
            <a:r>
              <a:rPr lang="en" dirty="0"/>
              <a:t>If Store_gap is greater than or equal to 1 then the Boolean is True. If less than or equal to 0 it is false.</a:t>
            </a:r>
            <a:endParaRPr dirty="0"/>
          </a:p>
          <a:p>
            <a:pPr marL="0" lvl="0" indent="0" algn="l" rtl="0">
              <a:lnSpc>
                <a:spcPct val="115000"/>
              </a:lnSpc>
              <a:spcBef>
                <a:spcPts val="1200"/>
              </a:spcBef>
              <a:spcAft>
                <a:spcPts val="0"/>
              </a:spcAft>
              <a:buClr>
                <a:schemeClr val="dk1"/>
              </a:buClr>
              <a:buSzPts val="1100"/>
              <a:buFont typeface="Arial"/>
              <a:buNone/>
            </a:pPr>
            <a:r>
              <a:rPr lang="en" dirty="0"/>
              <a:t> </a:t>
            </a:r>
            <a:endParaRPr dirty="0"/>
          </a:p>
          <a:p>
            <a:pPr marL="0" lvl="0" indent="0" algn="l" rtl="0">
              <a:lnSpc>
                <a:spcPct val="115000"/>
              </a:lnSpc>
              <a:spcBef>
                <a:spcPts val="1200"/>
              </a:spcBef>
              <a:spcAft>
                <a:spcPts val="0"/>
              </a:spcAft>
              <a:buClr>
                <a:schemeClr val="dk1"/>
              </a:buClr>
              <a:buSzPts val="1100"/>
              <a:buFont typeface="Arial"/>
              <a:buNone/>
            </a:pPr>
            <a:r>
              <a:rPr lang="en" dirty="0"/>
              <a:t>Key points of graph</a:t>
            </a:r>
            <a:endParaRPr dirty="0"/>
          </a:p>
          <a:p>
            <a:pPr marL="0" lvl="0" indent="0" algn="l" rtl="0">
              <a:spcBef>
                <a:spcPts val="1200"/>
              </a:spcBef>
              <a:spcAft>
                <a:spcPts val="0"/>
              </a:spcAft>
              <a:buNone/>
            </a:pPr>
            <a:endParaRPr dirty="0"/>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df6eee06f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adf6eee06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a:t>
            </a:r>
            <a:endParaRPr/>
          </a:p>
          <a:p>
            <a:pPr marL="0" lvl="0" indent="0" algn="l" rtl="0">
              <a:spcBef>
                <a:spcPts val="0"/>
              </a:spcBef>
              <a:spcAft>
                <a:spcPts val="0"/>
              </a:spcAft>
              <a:buNone/>
            </a:pPr>
            <a:endParaRPr/>
          </a:p>
          <a:p>
            <a:pPr marL="0" lvl="0" indent="0" algn="l" rtl="0">
              <a:spcBef>
                <a:spcPts val="0"/>
              </a:spcBef>
              <a:spcAft>
                <a:spcPts val="0"/>
              </a:spcAft>
              <a:buNone/>
            </a:pPr>
            <a:r>
              <a:rPr lang="en"/>
              <a:t>Instead of using revenue range or annual revenue we decided to bucket orgs based on their annual revenue. There are 5 buckets at roughly 20% distribution.</a:t>
            </a:r>
            <a:endParaRPr/>
          </a:p>
          <a:p>
            <a:pPr marL="0" lvl="0" indent="0" algn="l" rtl="0">
              <a:spcBef>
                <a:spcPts val="0"/>
              </a:spcBef>
              <a:spcAft>
                <a:spcPts val="0"/>
              </a:spcAft>
              <a:buClr>
                <a:schemeClr val="dk1"/>
              </a:buClr>
              <a:buSzPts val="1100"/>
              <a:buFont typeface="Arial"/>
              <a:buNone/>
            </a:pPr>
            <a:r>
              <a:rPr lang="en">
                <a:solidFill>
                  <a:schemeClr val="dk1"/>
                </a:solidFill>
              </a:rPr>
              <a:t>This grouping of organizations will help us simplify and visualize revenue data while still retaining its importance. </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a:t>Item_count - this feature calculates the total number of distinct items by each organization that we could verify are being sold somewhere online.</a:t>
            </a:r>
            <a:endParaRPr/>
          </a:p>
          <a:p>
            <a:pPr marL="0" lvl="0" indent="0" algn="l" rtl="0">
              <a:spcBef>
                <a:spcPts val="0"/>
              </a:spcBef>
              <a:spcAft>
                <a:spcPts val="0"/>
              </a:spcAft>
              <a:buNone/>
            </a:pPr>
            <a:endParaRPr/>
          </a:p>
          <a:p>
            <a:pPr marL="0" lvl="0" indent="0" algn="l" rtl="0">
              <a:spcBef>
                <a:spcPts val="0"/>
              </a:spcBef>
              <a:spcAft>
                <a:spcPts val="0"/>
              </a:spcAft>
              <a:buNone/>
            </a:pPr>
            <a:r>
              <a:rPr lang="en"/>
              <a:t>Lastly, we needed to address some skewed data. Abnormal data distribution is very common when working with financial Variables,</a:t>
            </a:r>
            <a:endParaRPr/>
          </a:p>
          <a:p>
            <a:pPr marL="0" lvl="0" indent="0" algn="l" rtl="0">
              <a:spcBef>
                <a:spcPts val="0"/>
              </a:spcBef>
              <a:spcAft>
                <a:spcPts val="0"/>
              </a:spcAft>
              <a:buNone/>
            </a:pPr>
            <a:r>
              <a:rPr lang="en"/>
              <a:t>and many of our numeric variables such as (doc_flow and </a:t>
            </a:r>
            <a:r>
              <a:rPr lang="en">
                <a:solidFill>
                  <a:schemeClr val="dk1"/>
                </a:solidFill>
              </a:rPr>
              <a:t>Item_count</a:t>
            </a:r>
            <a:r>
              <a:rPr lang="en"/>
              <a:t>) were positively skewed. </a:t>
            </a:r>
            <a:endParaRPr/>
          </a:p>
          <a:p>
            <a:pPr marL="0" lvl="0" indent="0" algn="l" rtl="0">
              <a:spcBef>
                <a:spcPts val="0"/>
              </a:spcBef>
              <a:spcAft>
                <a:spcPts val="0"/>
              </a:spcAft>
              <a:buNone/>
            </a:pPr>
            <a:r>
              <a:rPr lang="en"/>
              <a:t>Meaning that data points were clustered on the left of the bell curve while a few extreme values pull our average to the right of the curve.</a:t>
            </a:r>
            <a:endParaRPr/>
          </a:p>
          <a:p>
            <a:pPr marL="0" lvl="0" indent="0" algn="l" rtl="0">
              <a:spcBef>
                <a:spcPts val="0"/>
              </a:spcBef>
              <a:spcAft>
                <a:spcPts val="0"/>
              </a:spcAft>
              <a:buNone/>
            </a:pPr>
            <a:r>
              <a:rPr lang="en">
                <a:solidFill>
                  <a:schemeClr val="dk1"/>
                </a:solidFill>
              </a:rPr>
              <a:t>This process mitigates the influence of outliers, resulting in more stable and robust performance for any models we subsequently train.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df6eee06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adf6eee06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a:t>
            </a:r>
            <a:endParaRPr/>
          </a:p>
          <a:p>
            <a:pPr marL="0" lvl="0" indent="0" algn="l" rtl="0">
              <a:spcBef>
                <a:spcPts val="0"/>
              </a:spcBef>
              <a:spcAft>
                <a:spcPts val="0"/>
              </a:spcAft>
              <a:buNone/>
            </a:pPr>
            <a:r>
              <a:rPr lang="en"/>
              <a:t>Here we analyzed the number of organizations with and without store gaps by industry verticals.</a:t>
            </a:r>
            <a:endParaRPr/>
          </a:p>
          <a:p>
            <a:pPr marL="0" lvl="0" indent="0" algn="l" rtl="0">
              <a:spcBef>
                <a:spcPts val="0"/>
              </a:spcBef>
              <a:spcAft>
                <a:spcPts val="0"/>
              </a:spcAft>
              <a:buNone/>
            </a:pPr>
            <a:r>
              <a:rPr lang="en"/>
              <a:t>At the top you can see Food and Drug dominates industry vertical in terms of quantity. Nearly 30% of all ogranizations are of the food and drug vertical</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Another thing to note is that “Hardlines - Home” and “Industrial” seem to have “weak points” where the number of orgs with store gaps is larger than those without store gaps.</a:t>
            </a:r>
            <a:endParaRPr/>
          </a:p>
          <a:p>
            <a:pPr marL="0" lvl="0" indent="0" algn="l" rtl="0">
              <a:spcBef>
                <a:spcPts val="0"/>
              </a:spcBef>
              <a:spcAft>
                <a:spcPts val="0"/>
              </a:spcAft>
              <a:buNone/>
            </a:pPr>
            <a:endParaRPr/>
          </a:p>
          <a:p>
            <a:pPr marL="0" lvl="0" indent="0" algn="l" rtl="0">
              <a:spcBef>
                <a:spcPts val="0"/>
              </a:spcBef>
              <a:spcAft>
                <a:spcPts val="0"/>
              </a:spcAft>
              <a:buNone/>
            </a:pPr>
            <a:r>
              <a:rPr lang="en"/>
              <a:t>Overall, a majority of vertices have more organizations without store_gaps than with store_gaps.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adf6eee06f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adf6eee06f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 here we dove a little deeper into industry vertical showing the top 4 verticals from our previous slide but we have compared their Average monthly doc flow and orgs with or without store gap.</a:t>
            </a:r>
            <a:endParaRPr/>
          </a:p>
          <a:p>
            <a:pPr marL="0" lvl="0" indent="0" algn="l" rtl="0">
              <a:spcBef>
                <a:spcPts val="0"/>
              </a:spcBef>
              <a:spcAft>
                <a:spcPts val="0"/>
              </a:spcAft>
              <a:buNone/>
            </a:pPr>
            <a:r>
              <a:rPr lang="en"/>
              <a:t>We used this graph to visualize if industry vertical would help in our ranking approach. </a:t>
            </a:r>
            <a:endParaRPr/>
          </a:p>
          <a:p>
            <a:pPr marL="0" lvl="0" indent="0" algn="l" rtl="0">
              <a:spcBef>
                <a:spcPts val="0"/>
              </a:spcBef>
              <a:spcAft>
                <a:spcPts val="0"/>
              </a:spcAft>
              <a:buNone/>
            </a:pPr>
            <a:r>
              <a:rPr lang="en"/>
              <a:t>But seeing that there isn't a significant difference in doc flow </a:t>
            </a:r>
            <a:r>
              <a:rPr lang="en" b="1"/>
              <a:t>between vertices</a:t>
            </a:r>
            <a:r>
              <a:rPr lang="en"/>
              <a:t> or </a:t>
            </a:r>
            <a:r>
              <a:rPr lang="en" b="1"/>
              <a:t>within  vertical store gap groupings</a:t>
            </a:r>
            <a:r>
              <a:rPr lang="en"/>
              <a:t> we decided that industry vertical would not yield helpful result in the ranking of organizations.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adf6eee06f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adf6eee06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Nick</a:t>
            </a:r>
            <a:endParaRPr/>
          </a:p>
          <a:p>
            <a:pPr marL="0" lvl="0" indent="0" algn="l" rtl="0">
              <a:spcBef>
                <a:spcPts val="0"/>
              </a:spcBef>
              <a:spcAft>
                <a:spcPts val="0"/>
              </a:spcAft>
              <a:buNone/>
            </a:pPr>
            <a:endParaRPr/>
          </a:p>
          <a:p>
            <a:pPr marL="0" lvl="0" indent="0" algn="l" rtl="0">
              <a:spcBef>
                <a:spcPts val="0"/>
              </a:spcBef>
              <a:spcAft>
                <a:spcPts val="0"/>
              </a:spcAft>
              <a:buNone/>
            </a:pPr>
            <a:r>
              <a:rPr lang="en"/>
              <a:t>As part of our exploratory data analysis, we generated a feature correlation matrix to better understand how the variables interact with one another. Several moderately significant correlations emerged. For instance, Document Flow and Retailer Connections showed a positive correlation of .56, meaning that customers with more connections tend to process more documents.</a:t>
            </a:r>
            <a:endParaRPr/>
          </a:p>
          <a:p>
            <a:pPr marL="0" lvl="0" indent="0" algn="l" rtl="0">
              <a:spcBef>
                <a:spcPts val="0"/>
              </a:spcBef>
              <a:spcAft>
                <a:spcPts val="0"/>
              </a:spcAft>
              <a:buNone/>
            </a:pPr>
            <a:endParaRPr/>
          </a:p>
          <a:p>
            <a:pPr marL="0" lvl="0" indent="0" algn="l" rtl="0">
              <a:spcBef>
                <a:spcPts val="0"/>
              </a:spcBef>
              <a:spcAft>
                <a:spcPts val="0"/>
              </a:spcAft>
              <a:buNone/>
            </a:pPr>
            <a:r>
              <a:rPr lang="en"/>
              <a:t>On the other hand, Store Gap showed a negative correlation of .53 with Retailer Connections, suggesting that as connections increase, the likelihood of having a Store Gap decreases.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adf6eee06f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adf6eee06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Nick/Kyle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Throughout the analysis, we tested various ranking and modeling approaches to determine the strongest method for selecting our top 10 customers. On this slide, we highlight two of the ranking strategies we experimented with. On the following slide, we walk through why we ultimately shifted to our final approach.</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For Method 1, we constructed a weighted scoring system using the key performance metrics. These metrics included:</a:t>
            </a:r>
            <a:endParaRPr dirty="0"/>
          </a:p>
          <a:p>
            <a:pPr marL="0" lvl="0" indent="0" algn="l" rtl="0">
              <a:spcBef>
                <a:spcPts val="0"/>
              </a:spcBef>
              <a:spcAft>
                <a:spcPts val="0"/>
              </a:spcAft>
              <a:buNone/>
            </a:pPr>
            <a:r>
              <a:rPr lang="en" dirty="0"/>
              <a:t>Store Gap</a:t>
            </a:r>
            <a:endParaRPr dirty="0"/>
          </a:p>
          <a:p>
            <a:pPr marL="0" lvl="0" indent="0" algn="l" rtl="0">
              <a:spcBef>
                <a:spcPts val="0"/>
              </a:spcBef>
              <a:spcAft>
                <a:spcPts val="0"/>
              </a:spcAft>
              <a:buNone/>
            </a:pPr>
            <a:r>
              <a:rPr lang="en" dirty="0"/>
              <a:t>Velocity per Store, calculated as total transactions divided by retailer connections</a:t>
            </a:r>
            <a:endParaRPr dirty="0"/>
          </a:p>
          <a:p>
            <a:pPr marL="0" lvl="0" indent="0" algn="l" rtl="0">
              <a:spcBef>
                <a:spcPts val="0"/>
              </a:spcBef>
              <a:spcAft>
                <a:spcPts val="0"/>
              </a:spcAft>
              <a:buNone/>
            </a:pPr>
            <a:r>
              <a:rPr lang="en" dirty="0"/>
              <a:t>Document Flow per Store, calculated as average document flow divided by retailer connections</a:t>
            </a:r>
            <a:endParaRPr dirty="0"/>
          </a:p>
          <a:p>
            <a:pPr marL="0" lvl="0" indent="0" algn="l" rtl="0">
              <a:spcBef>
                <a:spcPts val="0"/>
              </a:spcBef>
              <a:spcAft>
                <a:spcPts val="0"/>
              </a:spcAft>
              <a:buNone/>
            </a:pPr>
            <a:r>
              <a:rPr lang="en" dirty="0"/>
              <a:t>Years with ORG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Each metric was normalized, and then weighted according to importance:</a:t>
            </a:r>
            <a:endParaRPr dirty="0"/>
          </a:p>
          <a:p>
            <a:pPr marL="0" lvl="0" indent="0" algn="l" rtl="0">
              <a:spcBef>
                <a:spcPts val="0"/>
              </a:spcBef>
              <a:spcAft>
                <a:spcPts val="0"/>
              </a:spcAft>
              <a:buNone/>
            </a:pPr>
            <a:r>
              <a:rPr lang="en" dirty="0"/>
              <a:t>45% Store Gap, 25% Document Flow, 15% Velocity, and 15% Years of Service.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After applying the weights to the normalized values, we calculated a final opportunity score for each customer, which produced the ranked list.</a:t>
            </a:r>
            <a:endParaRPr dirty="0"/>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adf90faadb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adf90faadb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Nick</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This slide visualizes the customers selected by both ranking methods. On the left plot, the Y-axis represents Store Gap our measure of missed opportunity while the X-axis represents Document Flow, which we defined as our high-value opportunity metric.</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With Method 1, the selected customers shown in green cluster heavily along the top of the graph, in Quadrants 1 and 2. This indicates that Method 1 strongly prioritized high Store Gap, at the expense of balancing the Document Flow.</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In contrast, Method 2 produced a spread of customers across Quadrants 1 and 4, showing that this approach placed more emphasis on high Document Flow and less on Store Gap.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This comparison helped us understand the tradeoffs and informed our decision to refine our final method.</a:t>
            </a:r>
            <a:endParaRPr dirty="0"/>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df6eee06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adf6eee0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Peyton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a:solidFill>
                  <a:schemeClr val="dk1"/>
                </a:solidFill>
              </a:rPr>
              <a:t>We chose this approach because it focuses on Doc flow and Store Gap, which give the clearest insight into where there’s both growth opportunity and profit potential. By combining these two factors, it highlights customers who can deliver the biggest impact. The resulting ranking balances opportunity with profitability.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adf90faadb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adf90faadb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Peyton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adf6eee06f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adf6eee06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a98b80931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a98b80931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Kyle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adf90faadb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adf90faad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Kyle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adf90faadb_1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adf90faadb_1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txBody>
          <a:bodyPr/>
          <a:lstStyle/>
          <a:p>
            <a:endParaRPr lang="en-US"/>
          </a:p>
        </p:txBody>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comments" Target="../comments/commen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comments" Target="../comments/commen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comments" Target="../comments/commen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5" name="Google Shape;65;p13"/>
          <p:cNvSpPr txBox="1">
            <a:spLocks noGrp="1"/>
          </p:cNvSpPr>
          <p:nvPr>
            <p:ph type="ctrTitle"/>
          </p:nvPr>
        </p:nvSpPr>
        <p:spPr>
          <a:xfrm>
            <a:off x="219725" y="470725"/>
            <a:ext cx="8520600" cy="1282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Group 1 Project</a:t>
            </a:r>
            <a:endParaRPr dirty="0"/>
          </a:p>
        </p:txBody>
      </p:sp>
      <p:sp>
        <p:nvSpPr>
          <p:cNvPr id="66" name="Google Shape;66;p13"/>
          <p:cNvSpPr txBox="1">
            <a:spLocks noGrp="1"/>
          </p:cNvSpPr>
          <p:nvPr>
            <p:ph type="subTitle" idx="1"/>
          </p:nvPr>
        </p:nvSpPr>
        <p:spPr>
          <a:xfrm>
            <a:off x="62100" y="4668775"/>
            <a:ext cx="4509900" cy="39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050">
                <a:solidFill>
                  <a:schemeClr val="dk1"/>
                </a:solidFill>
                <a:highlight>
                  <a:srgbClr val="FFFFFF"/>
                </a:highlight>
              </a:rPr>
              <a:t>Contributors:Jon Duea, Kyle Smith, Nick Dillner, Peyton Hall, Jake Olson</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311700" y="368375"/>
            <a:ext cx="3999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 Scope</a:t>
            </a:r>
            <a:endParaRPr/>
          </a:p>
        </p:txBody>
      </p:sp>
      <p:sp>
        <p:nvSpPr>
          <p:cNvPr id="72" name="Google Shape;72;p14"/>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00"/>
              <a:t>Generate a list of suppliers for sales outreach by leveraging internal customer transaction data and external web data.</a:t>
            </a:r>
            <a:endParaRPr sz="1300"/>
          </a:p>
          <a:p>
            <a:pPr marL="0" lvl="0" indent="0" algn="l" rtl="0">
              <a:spcBef>
                <a:spcPts val="1200"/>
              </a:spcBef>
              <a:spcAft>
                <a:spcPts val="1200"/>
              </a:spcAft>
              <a:buNone/>
            </a:pPr>
            <a:endParaRPr sz="1300"/>
          </a:p>
        </p:txBody>
      </p:sp>
      <p:sp>
        <p:nvSpPr>
          <p:cNvPr id="73" name="Google Shape;73;p14"/>
          <p:cNvSpPr txBox="1">
            <a:spLocks noGrp="1"/>
          </p:cNvSpPr>
          <p:nvPr>
            <p:ph type="body" idx="2"/>
          </p:nvPr>
        </p:nvSpPr>
        <p:spPr>
          <a:xfrm>
            <a:off x="4832400" y="1492675"/>
            <a:ext cx="3999900" cy="3076200"/>
          </a:xfrm>
          <a:prstGeom prst="rect">
            <a:avLst/>
          </a:prstGeom>
        </p:spPr>
        <p:txBody>
          <a:bodyPr spcFirstLastPara="1" wrap="square" lIns="91425" tIns="91425" rIns="91425" bIns="91425" anchor="t" anchorCtr="0">
            <a:normAutofit/>
          </a:bodyPr>
          <a:lstStyle/>
          <a:p>
            <a:pPr marL="457200" lvl="0" indent="-285750" algn="l" rtl="0">
              <a:spcBef>
                <a:spcPts val="0"/>
              </a:spcBef>
              <a:spcAft>
                <a:spcPts val="0"/>
              </a:spcAft>
              <a:buSzPts val="900"/>
              <a:buChar char="●"/>
            </a:pPr>
            <a:r>
              <a:rPr lang="en" sz="1100" dirty="0"/>
              <a:t>Data Sources</a:t>
            </a:r>
            <a:endParaRPr sz="1100" dirty="0"/>
          </a:p>
          <a:p>
            <a:pPr marL="914400" lvl="1" indent="-298450" algn="l" rtl="0">
              <a:spcBef>
                <a:spcPts val="0"/>
              </a:spcBef>
              <a:spcAft>
                <a:spcPts val="0"/>
              </a:spcAft>
              <a:buSzPts val="1100"/>
              <a:buChar char="○"/>
            </a:pPr>
            <a:r>
              <a:rPr lang="en" sz="1100" dirty="0"/>
              <a:t>Internal (ORG Data)</a:t>
            </a:r>
            <a:endParaRPr sz="1100" dirty="0"/>
          </a:p>
          <a:p>
            <a:pPr marL="914400" lvl="1" indent="-298450" algn="l" rtl="0">
              <a:spcBef>
                <a:spcPts val="0"/>
              </a:spcBef>
              <a:spcAft>
                <a:spcPts val="0"/>
              </a:spcAft>
              <a:buSzPts val="1100"/>
              <a:buChar char="○"/>
            </a:pPr>
            <a:r>
              <a:rPr lang="en" sz="1100" dirty="0"/>
              <a:t>External (Web Scraped Data)</a:t>
            </a:r>
            <a:endParaRPr sz="1100" dirty="0"/>
          </a:p>
          <a:p>
            <a:pPr marL="457200" lvl="0" indent="-285750" algn="l" rtl="0">
              <a:spcBef>
                <a:spcPts val="0"/>
              </a:spcBef>
              <a:spcAft>
                <a:spcPts val="0"/>
              </a:spcAft>
              <a:buSzPts val="900"/>
              <a:buChar char="●"/>
            </a:pPr>
            <a:r>
              <a:rPr lang="en" sz="1100" dirty="0"/>
              <a:t>Processes / Methodologies</a:t>
            </a:r>
            <a:endParaRPr sz="1100" dirty="0"/>
          </a:p>
          <a:p>
            <a:pPr marL="914400" lvl="1" indent="-285750" algn="l" rtl="0">
              <a:spcBef>
                <a:spcPts val="0"/>
              </a:spcBef>
              <a:spcAft>
                <a:spcPts val="0"/>
              </a:spcAft>
              <a:buSzPts val="900"/>
              <a:buChar char="○"/>
            </a:pPr>
            <a:r>
              <a:rPr lang="en" sz="1100" dirty="0"/>
              <a:t>Data processing pipeline</a:t>
            </a:r>
            <a:endParaRPr sz="1100" dirty="0"/>
          </a:p>
          <a:p>
            <a:pPr marL="914400" lvl="1" indent="-298450" algn="l" rtl="0">
              <a:spcBef>
                <a:spcPts val="0"/>
              </a:spcBef>
              <a:spcAft>
                <a:spcPts val="0"/>
              </a:spcAft>
              <a:buSzPts val="1100"/>
              <a:buChar char="○"/>
            </a:pPr>
            <a:r>
              <a:rPr lang="en" sz="1100" dirty="0"/>
              <a:t>API and Database Operations</a:t>
            </a:r>
            <a:endParaRPr sz="1100" dirty="0"/>
          </a:p>
          <a:p>
            <a:pPr marL="914400" lvl="1" indent="-298450" algn="l" rtl="0">
              <a:spcBef>
                <a:spcPts val="0"/>
              </a:spcBef>
              <a:spcAft>
                <a:spcPts val="0"/>
              </a:spcAft>
              <a:buSzPts val="1100"/>
              <a:buChar char="○"/>
            </a:pPr>
            <a:r>
              <a:rPr lang="en" sz="1100" dirty="0"/>
              <a:t>Filtering Criteria</a:t>
            </a:r>
            <a:endParaRPr sz="1100" dirty="0"/>
          </a:p>
          <a:p>
            <a:pPr marL="914400" lvl="1" indent="-298450" algn="l" rtl="0">
              <a:spcBef>
                <a:spcPts val="0"/>
              </a:spcBef>
              <a:spcAft>
                <a:spcPts val="0"/>
              </a:spcAft>
              <a:buSzPts val="1100"/>
              <a:buChar char="○"/>
            </a:pPr>
            <a:r>
              <a:rPr lang="en" sz="1100" dirty="0"/>
              <a:t>Exploratory Data Analysis</a:t>
            </a:r>
            <a:endParaRPr sz="1100" dirty="0"/>
          </a:p>
          <a:p>
            <a:pPr marL="457200" lvl="0" indent="-285750" algn="l" rtl="0">
              <a:spcBef>
                <a:spcPts val="0"/>
              </a:spcBef>
              <a:spcAft>
                <a:spcPts val="0"/>
              </a:spcAft>
              <a:buSzPts val="900"/>
              <a:buChar char="●"/>
            </a:pPr>
            <a:r>
              <a:rPr lang="en" sz="1100" dirty="0"/>
              <a:t>Deliverable</a:t>
            </a:r>
            <a:endParaRPr sz="1100" dirty="0"/>
          </a:p>
          <a:p>
            <a:pPr marL="914400" lvl="1" indent="-298450" algn="l" rtl="0">
              <a:spcBef>
                <a:spcPts val="0"/>
              </a:spcBef>
              <a:spcAft>
                <a:spcPts val="0"/>
              </a:spcAft>
              <a:buSzPts val="1100"/>
              <a:buChar char="○"/>
            </a:pPr>
            <a:r>
              <a:rPr lang="en" sz="1100" dirty="0"/>
              <a:t>Ranking of suppliers</a:t>
            </a:r>
            <a:endParaRPr sz="1100" dirty="0"/>
          </a:p>
          <a:p>
            <a:pPr marL="914400" lvl="1" indent="-298450" algn="l" rtl="0">
              <a:spcBef>
                <a:spcPts val="0"/>
              </a:spcBef>
              <a:spcAft>
                <a:spcPts val="0"/>
              </a:spcAft>
              <a:buSzPts val="1100"/>
              <a:buChar char="○"/>
            </a:pPr>
            <a:r>
              <a:rPr lang="en" sz="1100" dirty="0"/>
              <a:t>Reasoning for using method</a:t>
            </a:r>
            <a:endParaRPr sz="1100" dirty="0"/>
          </a:p>
          <a:p>
            <a:pPr marL="914400" lvl="0" indent="0" algn="l" rtl="0">
              <a:spcBef>
                <a:spcPts val="1200"/>
              </a:spcBef>
              <a:spcAft>
                <a:spcPts val="120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73650" y="2682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Steps Performed (Overview)</a:t>
            </a:r>
            <a:endParaRPr/>
          </a:p>
        </p:txBody>
      </p:sp>
      <p:sp>
        <p:nvSpPr>
          <p:cNvPr id="79" name="Google Shape;79;p15"/>
          <p:cNvSpPr txBox="1">
            <a:spLocks noGrp="1"/>
          </p:cNvSpPr>
          <p:nvPr>
            <p:ph type="body" idx="1"/>
          </p:nvPr>
        </p:nvSpPr>
        <p:spPr>
          <a:xfrm>
            <a:off x="0" y="1349125"/>
            <a:ext cx="4185900" cy="379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Obtained the primary data from github.</a:t>
            </a:r>
            <a:endParaRPr/>
          </a:p>
          <a:p>
            <a:pPr marL="0" lvl="0" indent="0" algn="l" rtl="0">
              <a:spcBef>
                <a:spcPts val="1200"/>
              </a:spcBef>
              <a:spcAft>
                <a:spcPts val="0"/>
              </a:spcAft>
              <a:buNone/>
            </a:pPr>
            <a:r>
              <a:rPr lang="en"/>
              <a:t>Using the data, created a Python script to scrape APIs, taking turns attempting to pull and, overall, getting a feeling for how to scrape data and share it over github.</a:t>
            </a:r>
            <a:endParaRPr/>
          </a:p>
          <a:p>
            <a:pPr marL="0" lvl="0" indent="0" algn="l" rtl="0">
              <a:spcBef>
                <a:spcPts val="1200"/>
              </a:spcBef>
              <a:spcAft>
                <a:spcPts val="0"/>
              </a:spcAft>
              <a:buNone/>
            </a:pPr>
            <a:r>
              <a:rPr lang="en"/>
              <a:t>We gathered, and built a database using all the data gathered from everyone, ensuring consistency.</a:t>
            </a:r>
            <a:endParaRPr/>
          </a:p>
          <a:p>
            <a:pPr marL="0" lvl="0" indent="0" algn="l" rtl="0">
              <a:spcBef>
                <a:spcPts val="1200"/>
              </a:spcBef>
              <a:spcAft>
                <a:spcPts val="0"/>
              </a:spcAft>
              <a:buNone/>
            </a:pPr>
            <a:r>
              <a:rPr lang="en"/>
              <a:t>Together, created a database and explored it using different methods, primarily SQL/Python</a:t>
            </a:r>
            <a:endParaRPr/>
          </a:p>
          <a:p>
            <a:pPr marL="0" lvl="0" indent="0" algn="l" rtl="0">
              <a:spcBef>
                <a:spcPts val="1200"/>
              </a:spcBef>
              <a:spcAft>
                <a:spcPts val="0"/>
              </a:spcAft>
              <a:buNone/>
            </a:pPr>
            <a:r>
              <a:rPr lang="en"/>
              <a:t>Trimmed down invalid or missing data.</a:t>
            </a:r>
            <a:endParaRPr/>
          </a:p>
          <a:p>
            <a:pPr marL="0" lvl="0" indent="0" algn="l" rtl="0">
              <a:spcBef>
                <a:spcPts val="1200"/>
              </a:spcBef>
              <a:spcAft>
                <a:spcPts val="1200"/>
              </a:spcAft>
              <a:buNone/>
            </a:pPr>
            <a:endParaRPr/>
          </a:p>
        </p:txBody>
      </p:sp>
      <p:sp>
        <p:nvSpPr>
          <p:cNvPr id="80" name="Google Shape;80;p15"/>
          <p:cNvSpPr txBox="1">
            <a:spLocks noGrp="1"/>
          </p:cNvSpPr>
          <p:nvPr>
            <p:ph type="body" idx="2"/>
          </p:nvPr>
        </p:nvSpPr>
        <p:spPr>
          <a:xfrm>
            <a:off x="4572000" y="1310800"/>
            <a:ext cx="3999900" cy="38328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We then built different models using different methods based on observed data, questions asked about the data, and discussions among one another.</a:t>
            </a:r>
            <a:endParaRPr/>
          </a:p>
          <a:p>
            <a:pPr marL="0" lvl="0" indent="0" algn="l" rtl="0">
              <a:spcBef>
                <a:spcPts val="1200"/>
              </a:spcBef>
              <a:spcAft>
                <a:spcPts val="0"/>
              </a:spcAft>
              <a:buNone/>
            </a:pPr>
            <a:r>
              <a:rPr lang="en"/>
              <a:t>It’s important to remember: There was no necessarily “wrong” method to do this. </a:t>
            </a:r>
            <a:endParaRPr/>
          </a:p>
          <a:p>
            <a:pPr marL="0" lvl="0" indent="0" algn="l" rtl="0">
              <a:spcBef>
                <a:spcPts val="1200"/>
              </a:spcBef>
              <a:spcAft>
                <a:spcPts val="0"/>
              </a:spcAft>
              <a:buNone/>
            </a:pPr>
            <a:r>
              <a:rPr lang="en"/>
              <a:t>Each method was based upon logic, what information we’re given, and real world situations.</a:t>
            </a:r>
            <a:endParaRPr/>
          </a:p>
          <a:p>
            <a:pPr marL="0" lvl="0" indent="0" algn="l" rtl="0">
              <a:spcBef>
                <a:spcPts val="1200"/>
              </a:spcBef>
              <a:spcAft>
                <a:spcPts val="0"/>
              </a:spcAft>
              <a:buNone/>
            </a:pPr>
            <a:r>
              <a:rPr lang="en"/>
              <a:t>After discussion, we settled on one model. Each one has their own weights and we can spot similarities between them.</a:t>
            </a:r>
            <a:endParaRPr/>
          </a:p>
          <a:p>
            <a:pPr marL="0" lvl="0" indent="0" algn="l" rtl="0">
              <a:spcBef>
                <a:spcPts val="1200"/>
              </a:spcBef>
              <a:spcAft>
                <a:spcPts val="0"/>
              </a:spcAft>
              <a:buNone/>
            </a:pPr>
            <a:endParaRPr/>
          </a:p>
          <a:p>
            <a:pPr marL="0" lvl="0" indent="0" algn="l" rtl="0">
              <a:spcBef>
                <a:spcPts val="1200"/>
              </a:spcBef>
              <a:spcAft>
                <a:spcPts val="1200"/>
              </a:spcAft>
              <a:buNone/>
            </a:pPr>
            <a:r>
              <a:rPr lang="en"/>
              <a:t>Our detailed results are in the next few slides.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Processing Pipeline</a:t>
            </a:r>
            <a:endParaRPr/>
          </a:p>
        </p:txBody>
      </p:sp>
      <p:pic>
        <p:nvPicPr>
          <p:cNvPr id="86" name="Google Shape;86;p16"/>
          <p:cNvPicPr preferRelativeResize="0"/>
          <p:nvPr/>
        </p:nvPicPr>
        <p:blipFill>
          <a:blip r:embed="rId3">
            <a:alphaModFix/>
          </a:blip>
          <a:stretch>
            <a:fillRect/>
          </a:stretch>
        </p:blipFill>
        <p:spPr>
          <a:xfrm>
            <a:off x="599287" y="2045425"/>
            <a:ext cx="7484074" cy="3100625"/>
          </a:xfrm>
          <a:prstGeom prst="rect">
            <a:avLst/>
          </a:prstGeom>
          <a:noFill/>
          <a:ln>
            <a:noFill/>
          </a:ln>
        </p:spPr>
      </p:pic>
      <p:sp>
        <p:nvSpPr>
          <p:cNvPr id="87" name="Google Shape;87;p16"/>
          <p:cNvSpPr txBox="1"/>
          <p:nvPr/>
        </p:nvSpPr>
        <p:spPr>
          <a:xfrm>
            <a:off x="490675" y="1406975"/>
            <a:ext cx="7701300" cy="3561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Load &amp; validate the data, then clean the raw transactions and customer data before sampling</a:t>
            </a:r>
            <a:endParaRPr sz="1300">
              <a:solidFill>
                <a:schemeClr val="dk2"/>
              </a:solidFill>
              <a:latin typeface="Roboto"/>
              <a:ea typeface="Roboto"/>
              <a:cs typeface="Roboto"/>
              <a:sym typeface="Roboto"/>
            </a:endParaRPr>
          </a:p>
          <a:p>
            <a:pPr marL="457200" lvl="0" indent="-311150" algn="l" rtl="0">
              <a:lnSpc>
                <a:spcPct val="115000"/>
              </a:lnSpc>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Valid Code Lengths: 11-14 numeric characters</a:t>
            </a:r>
            <a:endParaRPr sz="1300">
              <a:solidFill>
                <a:schemeClr val="dk2"/>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Final 450K Sample</a:t>
            </a:r>
            <a:endParaRPr/>
          </a:p>
        </p:txBody>
      </p:sp>
      <p:pic>
        <p:nvPicPr>
          <p:cNvPr id="93" name="Google Shape;93;p17"/>
          <p:cNvPicPr preferRelativeResize="0"/>
          <p:nvPr/>
        </p:nvPicPr>
        <p:blipFill>
          <a:blip r:embed="rId3">
            <a:alphaModFix/>
          </a:blip>
          <a:stretch>
            <a:fillRect/>
          </a:stretch>
        </p:blipFill>
        <p:spPr>
          <a:xfrm>
            <a:off x="496950" y="1958525"/>
            <a:ext cx="8150100" cy="3121476"/>
          </a:xfrm>
          <a:prstGeom prst="rect">
            <a:avLst/>
          </a:prstGeom>
          <a:noFill/>
          <a:ln>
            <a:noFill/>
          </a:ln>
        </p:spPr>
      </p:pic>
      <p:sp>
        <p:nvSpPr>
          <p:cNvPr id="94" name="Google Shape;94;p17"/>
          <p:cNvSpPr txBox="1"/>
          <p:nvPr/>
        </p:nvSpPr>
        <p:spPr>
          <a:xfrm>
            <a:off x="260400" y="1327350"/>
            <a:ext cx="8623200" cy="57150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Total Organizations to sample from: 6,433</a:t>
            </a:r>
            <a:endParaRPr sz="1300">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Total Transactions across those organizations: 941,740</a:t>
            </a:r>
            <a:endParaRPr sz="1300">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311700" y="205825"/>
            <a:ext cx="3267600" cy="782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45833"/>
              <a:buNone/>
            </a:pPr>
            <a:r>
              <a:rPr lang="en" sz="2400"/>
              <a:t>API and Database Operations</a:t>
            </a:r>
            <a:endParaRPr sz="2400"/>
          </a:p>
        </p:txBody>
      </p:sp>
      <p:sp>
        <p:nvSpPr>
          <p:cNvPr id="100" name="Google Shape;100;p18"/>
          <p:cNvSpPr txBox="1">
            <a:spLocks noGrp="1"/>
          </p:cNvSpPr>
          <p:nvPr>
            <p:ph type="body" idx="1"/>
          </p:nvPr>
        </p:nvSpPr>
        <p:spPr>
          <a:xfrm>
            <a:off x="221700" y="1188150"/>
            <a:ext cx="3597600" cy="1154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Initial Datasets Customers and Transactions loaded from .csv files located on ORG GitHub.</a:t>
            </a:r>
            <a:endParaRPr dirty="0"/>
          </a:p>
        </p:txBody>
      </p:sp>
      <p:pic>
        <p:nvPicPr>
          <p:cNvPr id="101" name="Google Shape;101;p18"/>
          <p:cNvPicPr preferRelativeResize="0"/>
          <p:nvPr/>
        </p:nvPicPr>
        <p:blipFill>
          <a:blip r:embed="rId3">
            <a:alphaModFix/>
          </a:blip>
          <a:stretch>
            <a:fillRect/>
          </a:stretch>
        </p:blipFill>
        <p:spPr>
          <a:xfrm>
            <a:off x="266775" y="1999975"/>
            <a:ext cx="3357446" cy="2106625"/>
          </a:xfrm>
          <a:prstGeom prst="rect">
            <a:avLst/>
          </a:prstGeom>
          <a:noFill/>
          <a:ln>
            <a:noFill/>
          </a:ln>
        </p:spPr>
      </p:pic>
      <p:pic>
        <p:nvPicPr>
          <p:cNvPr id="102" name="Google Shape;102;p18"/>
          <p:cNvPicPr preferRelativeResize="0"/>
          <p:nvPr/>
        </p:nvPicPr>
        <p:blipFill>
          <a:blip r:embed="rId4">
            <a:alphaModFix/>
          </a:blip>
          <a:stretch>
            <a:fillRect/>
          </a:stretch>
        </p:blipFill>
        <p:spPr>
          <a:xfrm>
            <a:off x="4519050" y="2149975"/>
            <a:ext cx="4018849" cy="2067275"/>
          </a:xfrm>
          <a:prstGeom prst="rect">
            <a:avLst/>
          </a:prstGeom>
          <a:noFill/>
          <a:ln>
            <a:noFill/>
          </a:ln>
        </p:spPr>
      </p:pic>
      <p:sp>
        <p:nvSpPr>
          <p:cNvPr id="103" name="Google Shape;103;p18"/>
          <p:cNvSpPr txBox="1">
            <a:spLocks noGrp="1"/>
          </p:cNvSpPr>
          <p:nvPr>
            <p:ph type="body" idx="1"/>
          </p:nvPr>
        </p:nvSpPr>
        <p:spPr>
          <a:xfrm>
            <a:off x="4640350" y="870000"/>
            <a:ext cx="3597600" cy="14022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b="1">
                <a:solidFill>
                  <a:srgbClr val="000000"/>
                </a:solidFill>
              </a:rPr>
              <a:t>Product Providers: </a:t>
            </a:r>
            <a:r>
              <a:rPr lang="en">
                <a:solidFill>
                  <a:srgbClr val="000000"/>
                </a:solidFill>
              </a:rPr>
              <a:t>Data retrieved via the API. Tracking the UPCs, API Responses, and Request URLs.</a:t>
            </a:r>
            <a:endParaRPr>
              <a:solidFill>
                <a:srgbClr val="000000"/>
              </a:solidFill>
            </a:endParaRPr>
          </a:p>
          <a:p>
            <a:pPr marL="0" lvl="0" indent="0" algn="l" rtl="0">
              <a:spcBef>
                <a:spcPts val="1200"/>
              </a:spcBef>
              <a:spcAft>
                <a:spcPts val="1200"/>
              </a:spcAft>
              <a:buNone/>
            </a:pPr>
            <a:r>
              <a:rPr lang="en" b="1">
                <a:solidFill>
                  <a:srgbClr val="000000"/>
                </a:solidFill>
              </a:rPr>
              <a:t>UPC_Offers: </a:t>
            </a:r>
            <a:r>
              <a:rPr lang="en">
                <a:solidFill>
                  <a:srgbClr val="000000"/>
                </a:solidFill>
              </a:rPr>
              <a:t>Data retrieved via the API. Includes individuals offers per UPC.</a:t>
            </a:r>
            <a:br>
              <a:rPr lang="en"/>
            </a:br>
            <a:br>
              <a:rPr lang="en"/>
            </a:b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ct val="39286"/>
              <a:buFont typeface="Arial"/>
              <a:buNone/>
            </a:pPr>
            <a:r>
              <a:rPr lang="en"/>
              <a:t>API Data Processing Pipeline</a:t>
            </a:r>
            <a:endParaRPr/>
          </a:p>
          <a:p>
            <a:pPr marL="0" lvl="0" indent="0" algn="l" rtl="0">
              <a:spcBef>
                <a:spcPts val="0"/>
              </a:spcBef>
              <a:spcAft>
                <a:spcPts val="0"/>
              </a:spcAft>
              <a:buNone/>
            </a:pPr>
            <a:endParaRPr/>
          </a:p>
        </p:txBody>
      </p:sp>
      <p:sp>
        <p:nvSpPr>
          <p:cNvPr id="109" name="Google Shape;109;p19"/>
          <p:cNvSpPr txBox="1">
            <a:spLocks noGrp="1"/>
          </p:cNvSpPr>
          <p:nvPr>
            <p:ph type="body" idx="1"/>
          </p:nvPr>
        </p:nvSpPr>
        <p:spPr>
          <a:xfrm>
            <a:off x="273375" y="1359450"/>
            <a:ext cx="3513300" cy="37842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
              <a:t>Overview:</a:t>
            </a:r>
            <a:endParaRPr/>
          </a:p>
          <a:p>
            <a:pPr marL="457200" lvl="0" indent="-311150" algn="l" rtl="0">
              <a:spcBef>
                <a:spcPts val="1200"/>
              </a:spcBef>
              <a:spcAft>
                <a:spcPts val="0"/>
              </a:spcAft>
              <a:buSzPts val="1300"/>
              <a:buAutoNum type="arabicPeriod"/>
            </a:pPr>
            <a:r>
              <a:rPr lang="en"/>
              <a:t>Product Provider Filtering</a:t>
            </a:r>
            <a:endParaRPr/>
          </a:p>
          <a:p>
            <a:pPr marL="914400" lvl="1" indent="-298450" algn="l" rtl="0">
              <a:spcBef>
                <a:spcPts val="0"/>
              </a:spcBef>
              <a:spcAft>
                <a:spcPts val="0"/>
              </a:spcAft>
              <a:buSzPts val="1100"/>
              <a:buChar char="○"/>
            </a:pPr>
            <a:r>
              <a:rPr lang="en"/>
              <a:t>Filter and Merge</a:t>
            </a:r>
            <a:endParaRPr/>
          </a:p>
          <a:p>
            <a:pPr marL="457200" lvl="0" indent="-311150" algn="l" rtl="0">
              <a:spcBef>
                <a:spcPts val="0"/>
              </a:spcBef>
              <a:spcAft>
                <a:spcPts val="0"/>
              </a:spcAft>
              <a:buSzPts val="1300"/>
              <a:buAutoNum type="arabicPeriod"/>
            </a:pPr>
            <a:r>
              <a:rPr lang="en"/>
              <a:t>Offer Data Cleaning</a:t>
            </a:r>
            <a:endParaRPr/>
          </a:p>
          <a:p>
            <a:pPr marL="914400" lvl="1" indent="-298450" algn="l" rtl="0">
              <a:spcBef>
                <a:spcPts val="0"/>
              </a:spcBef>
              <a:spcAft>
                <a:spcPts val="0"/>
              </a:spcAft>
              <a:buSzPts val="1100"/>
              <a:buChar char="○"/>
            </a:pPr>
            <a:r>
              <a:rPr lang="en"/>
              <a:t>Filter by Date</a:t>
            </a:r>
            <a:endParaRPr/>
          </a:p>
          <a:p>
            <a:pPr marL="914400" lvl="1" indent="-298450" algn="l" rtl="0">
              <a:spcBef>
                <a:spcPts val="0"/>
              </a:spcBef>
              <a:spcAft>
                <a:spcPts val="0"/>
              </a:spcAft>
              <a:buSzPts val="1100"/>
              <a:buChar char="○"/>
            </a:pPr>
            <a:r>
              <a:rPr lang="en"/>
              <a:t>Remove “Used Offers”</a:t>
            </a:r>
            <a:endParaRPr/>
          </a:p>
          <a:p>
            <a:pPr marL="457200" lvl="0" indent="-311150" algn="l" rtl="0">
              <a:spcBef>
                <a:spcPts val="0"/>
              </a:spcBef>
              <a:spcAft>
                <a:spcPts val="0"/>
              </a:spcAft>
              <a:buSzPts val="1300"/>
              <a:buAutoNum type="arabicPeriod"/>
            </a:pPr>
            <a:r>
              <a:rPr lang="en"/>
              <a:t>Final steps</a:t>
            </a:r>
            <a:endParaRPr/>
          </a:p>
          <a:p>
            <a:pPr marL="914400" lvl="1" indent="-298450" algn="l" rtl="0">
              <a:spcBef>
                <a:spcPts val="0"/>
              </a:spcBef>
              <a:spcAft>
                <a:spcPts val="0"/>
              </a:spcAft>
              <a:buSzPts val="1100"/>
              <a:buChar char="○"/>
            </a:pPr>
            <a:r>
              <a:rPr lang="en"/>
              <a:t>Match Stores and Deduplicate Offers</a:t>
            </a:r>
            <a:endParaRPr/>
          </a:p>
          <a:p>
            <a:pPr marL="914400" lvl="1" indent="-298450" algn="l" rtl="0">
              <a:spcBef>
                <a:spcPts val="0"/>
              </a:spcBef>
              <a:spcAft>
                <a:spcPts val="0"/>
              </a:spcAft>
              <a:buSzPts val="1100"/>
              <a:buChar char="○"/>
            </a:pPr>
            <a:r>
              <a:rPr lang="en"/>
              <a:t>Calculate Unique Store Count</a:t>
            </a:r>
            <a:endParaRPr/>
          </a:p>
          <a:p>
            <a:pPr marL="0" lvl="0" indent="0" algn="l" rtl="0">
              <a:spcBef>
                <a:spcPts val="1200"/>
              </a:spcBef>
              <a:spcAft>
                <a:spcPts val="0"/>
              </a:spcAft>
              <a:buNone/>
            </a:pPr>
            <a:r>
              <a:rPr lang="en"/>
              <a:t>Critical Operations </a:t>
            </a:r>
            <a:endParaRPr/>
          </a:p>
          <a:p>
            <a:pPr marL="457200" lvl="0" indent="-311150" algn="l" rtl="0">
              <a:spcBef>
                <a:spcPts val="1200"/>
              </a:spcBef>
              <a:spcAft>
                <a:spcPts val="0"/>
              </a:spcAft>
              <a:buSzPts val="1300"/>
              <a:buChar char="●"/>
            </a:pPr>
            <a:r>
              <a:rPr lang="en" i="1"/>
              <a:t>Not related to api data quality:</a:t>
            </a:r>
            <a:endParaRPr i="1"/>
          </a:p>
          <a:p>
            <a:pPr marL="914400" lvl="0" indent="-311150" algn="l" rtl="0">
              <a:spcBef>
                <a:spcPts val="0"/>
              </a:spcBef>
              <a:spcAft>
                <a:spcPts val="0"/>
              </a:spcAft>
              <a:buSzPts val="1300"/>
              <a:buAutoNum type="arabicPeriod"/>
            </a:pPr>
            <a:r>
              <a:rPr lang="en"/>
              <a:t>T&amp;C Customer filtering</a:t>
            </a:r>
            <a:endParaRPr/>
          </a:p>
          <a:p>
            <a:pPr marL="914400" lvl="0" indent="-311150" algn="l" rtl="0">
              <a:spcBef>
                <a:spcPts val="0"/>
              </a:spcBef>
              <a:spcAft>
                <a:spcPts val="0"/>
              </a:spcAft>
              <a:buSzPts val="1300"/>
              <a:buAutoNum type="arabicPeriod"/>
            </a:pPr>
            <a:r>
              <a:rPr lang="en" b="1"/>
              <a:t>Complete</a:t>
            </a:r>
            <a:r>
              <a:rPr lang="en"/>
              <a:t> removal of transactions containing related to more than one org</a:t>
            </a:r>
            <a:endParaRPr/>
          </a:p>
          <a:p>
            <a:pPr marL="457200" lvl="0" indent="-311150" algn="l" rtl="0">
              <a:spcBef>
                <a:spcPts val="0"/>
              </a:spcBef>
              <a:spcAft>
                <a:spcPts val="0"/>
              </a:spcAft>
              <a:buSzPts val="1300"/>
              <a:buChar char="●"/>
            </a:pPr>
            <a:r>
              <a:rPr lang="en"/>
              <a:t>Removing records that didn’t return valid offer data</a:t>
            </a:r>
            <a:endParaRPr/>
          </a:p>
        </p:txBody>
      </p:sp>
      <p:pic>
        <p:nvPicPr>
          <p:cNvPr id="110" name="Google Shape;110;p19"/>
          <p:cNvPicPr preferRelativeResize="0"/>
          <p:nvPr/>
        </p:nvPicPr>
        <p:blipFill>
          <a:blip r:embed="rId3">
            <a:alphaModFix/>
          </a:blip>
          <a:stretch>
            <a:fillRect/>
          </a:stretch>
        </p:blipFill>
        <p:spPr>
          <a:xfrm>
            <a:off x="4002751" y="1596493"/>
            <a:ext cx="5141248" cy="35471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311700" y="2898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Finalized Dataset </a:t>
            </a:r>
            <a:endParaRPr/>
          </a:p>
        </p:txBody>
      </p:sp>
      <p:sp>
        <p:nvSpPr>
          <p:cNvPr id="116" name="Google Shape;116;p20"/>
          <p:cNvSpPr txBox="1">
            <a:spLocks noGrp="1"/>
          </p:cNvSpPr>
          <p:nvPr>
            <p:ph type="body" idx="1"/>
          </p:nvPr>
        </p:nvSpPr>
        <p:spPr>
          <a:xfrm>
            <a:off x="382900" y="1473275"/>
            <a:ext cx="3834000" cy="3087000"/>
          </a:xfrm>
          <a:prstGeom prst="rect">
            <a:avLst/>
          </a:prstGeom>
        </p:spPr>
        <p:txBody>
          <a:bodyPr spcFirstLastPara="1" wrap="square" lIns="91425" tIns="91425" rIns="91425" bIns="91425" anchor="t" anchorCtr="0">
            <a:normAutofit/>
          </a:bodyPr>
          <a:lstStyle/>
          <a:p>
            <a:pPr marL="457200" lvl="0" indent="-311150" algn="l" rtl="0">
              <a:lnSpc>
                <a:spcPct val="200000"/>
              </a:lnSpc>
              <a:spcBef>
                <a:spcPts val="0"/>
              </a:spcBef>
              <a:spcAft>
                <a:spcPts val="0"/>
              </a:spcAft>
              <a:buSzPts val="1300"/>
              <a:buChar char="●"/>
            </a:pPr>
            <a:r>
              <a:rPr lang="en" b="1"/>
              <a:t>Organizations to rank:</a:t>
            </a:r>
            <a:r>
              <a:rPr lang="en"/>
              <a:t> 2,505 </a:t>
            </a:r>
            <a:endParaRPr/>
          </a:p>
          <a:p>
            <a:pPr marL="914400" lvl="1" indent="-298450" algn="l" rtl="0">
              <a:lnSpc>
                <a:spcPct val="200000"/>
              </a:lnSpc>
              <a:spcBef>
                <a:spcPts val="0"/>
              </a:spcBef>
              <a:spcAft>
                <a:spcPts val="0"/>
              </a:spcAft>
              <a:buSzPts val="1100"/>
              <a:buChar char="○"/>
            </a:pPr>
            <a:r>
              <a:rPr lang="en"/>
              <a:t>≅ 40% of the original sample we collected data for.</a:t>
            </a:r>
            <a:endParaRPr/>
          </a:p>
          <a:p>
            <a:pPr marL="457200" lvl="0" indent="-311150" algn="l" rtl="0">
              <a:lnSpc>
                <a:spcPct val="200000"/>
              </a:lnSpc>
              <a:spcBef>
                <a:spcPts val="0"/>
              </a:spcBef>
              <a:spcAft>
                <a:spcPts val="0"/>
              </a:spcAft>
              <a:buSzPts val="1300"/>
              <a:buChar char="●"/>
            </a:pPr>
            <a:r>
              <a:rPr lang="en" b="1"/>
              <a:t>Unique Items:</a:t>
            </a:r>
            <a:r>
              <a:rPr lang="en"/>
              <a:t> 50,426</a:t>
            </a:r>
            <a:endParaRPr/>
          </a:p>
          <a:p>
            <a:pPr marL="457200" lvl="0" indent="-311150" algn="l" rtl="0">
              <a:lnSpc>
                <a:spcPct val="200000"/>
              </a:lnSpc>
              <a:spcBef>
                <a:spcPts val="0"/>
              </a:spcBef>
              <a:spcAft>
                <a:spcPts val="0"/>
              </a:spcAft>
              <a:buSzPts val="1300"/>
              <a:buChar char="●"/>
            </a:pPr>
            <a:r>
              <a:rPr lang="en" b="1"/>
              <a:t>Unique Offers: </a:t>
            </a:r>
            <a:r>
              <a:rPr lang="en"/>
              <a:t>122,706</a:t>
            </a:r>
            <a:endParaRPr/>
          </a:p>
          <a:p>
            <a:pPr marL="0" lvl="0" indent="0" algn="l" rtl="0">
              <a:spcBef>
                <a:spcPts val="1200"/>
              </a:spcBef>
              <a:spcAft>
                <a:spcPts val="1200"/>
              </a:spcAft>
              <a:buNone/>
            </a:pPr>
            <a:endParaRPr/>
          </a:p>
        </p:txBody>
      </p:sp>
      <p:pic>
        <p:nvPicPr>
          <p:cNvPr id="117" name="Google Shape;117;p20"/>
          <p:cNvPicPr preferRelativeResize="0"/>
          <p:nvPr/>
        </p:nvPicPr>
        <p:blipFill>
          <a:blip r:embed="rId3">
            <a:alphaModFix/>
          </a:blip>
          <a:stretch>
            <a:fillRect/>
          </a:stretch>
        </p:blipFill>
        <p:spPr>
          <a:xfrm>
            <a:off x="4387782" y="-7699"/>
            <a:ext cx="4747842"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a:spLocks noGrp="1"/>
          </p:cNvSpPr>
          <p:nvPr>
            <p:ph type="title"/>
          </p:nvPr>
        </p:nvSpPr>
        <p:spPr>
          <a:xfrm>
            <a:off x="311700" y="2898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Modeling and Exploration</a:t>
            </a:r>
            <a:endParaRPr/>
          </a:p>
        </p:txBody>
      </p:sp>
      <p:sp>
        <p:nvSpPr>
          <p:cNvPr id="123" name="Google Shape;123;p21"/>
          <p:cNvSpPr txBox="1">
            <a:spLocks noGrp="1"/>
          </p:cNvSpPr>
          <p:nvPr>
            <p:ph type="body" idx="1"/>
          </p:nvPr>
        </p:nvSpPr>
        <p:spPr>
          <a:xfrm>
            <a:off x="311700" y="1443625"/>
            <a:ext cx="4601100" cy="3416400"/>
          </a:xfrm>
          <a:prstGeom prst="rect">
            <a:avLst/>
          </a:prstGeom>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en"/>
              <a:t>Overview:</a:t>
            </a:r>
            <a:endParaRPr/>
          </a:p>
          <a:p>
            <a:pPr marL="457200" marR="0" lvl="0" indent="-330200" algn="l" rtl="0">
              <a:lnSpc>
                <a:spcPct val="115000"/>
              </a:lnSpc>
              <a:spcBef>
                <a:spcPts val="1200"/>
              </a:spcBef>
              <a:spcAft>
                <a:spcPts val="0"/>
              </a:spcAft>
              <a:buSzPts val="1600"/>
              <a:buChar char="●"/>
            </a:pPr>
            <a:r>
              <a:rPr lang="en" sz="1600"/>
              <a:t>Feature Engineering and Log   Transformations</a:t>
            </a:r>
            <a:endParaRPr sz="1600"/>
          </a:p>
          <a:p>
            <a:pPr marL="457200" marR="0" lvl="0" indent="0" algn="l" rtl="0">
              <a:lnSpc>
                <a:spcPct val="115000"/>
              </a:lnSpc>
              <a:spcBef>
                <a:spcPts val="1200"/>
              </a:spcBef>
              <a:spcAft>
                <a:spcPts val="0"/>
              </a:spcAft>
              <a:buNone/>
            </a:pPr>
            <a:endParaRPr sz="1600"/>
          </a:p>
          <a:p>
            <a:pPr marL="457200" marR="0" lvl="0" indent="-330200" algn="l" rtl="0">
              <a:lnSpc>
                <a:spcPct val="115000"/>
              </a:lnSpc>
              <a:spcBef>
                <a:spcPts val="1200"/>
              </a:spcBef>
              <a:spcAft>
                <a:spcPts val="0"/>
              </a:spcAft>
              <a:buSzPts val="1600"/>
              <a:buChar char="●"/>
            </a:pPr>
            <a:r>
              <a:rPr lang="en" sz="1600"/>
              <a:t>Exploratory Data Analysis</a:t>
            </a:r>
            <a:endParaRPr sz="1600"/>
          </a:p>
          <a:p>
            <a:pPr marL="457200" marR="0" lvl="0" indent="0" algn="l" rtl="0">
              <a:lnSpc>
                <a:spcPct val="115000"/>
              </a:lnSpc>
              <a:spcBef>
                <a:spcPts val="1200"/>
              </a:spcBef>
              <a:spcAft>
                <a:spcPts val="0"/>
              </a:spcAft>
              <a:buNone/>
            </a:pPr>
            <a:endParaRPr sz="1600"/>
          </a:p>
          <a:p>
            <a:pPr marL="457200" marR="0" lvl="0" indent="-330200" algn="l" rtl="0">
              <a:lnSpc>
                <a:spcPct val="115000"/>
              </a:lnSpc>
              <a:spcBef>
                <a:spcPts val="1200"/>
              </a:spcBef>
              <a:spcAft>
                <a:spcPts val="0"/>
              </a:spcAft>
              <a:buSzPts val="1600"/>
              <a:buChar char="●"/>
            </a:pPr>
            <a:r>
              <a:rPr lang="en" sz="1600"/>
              <a:t>Ranking Approach</a:t>
            </a:r>
            <a:endParaRPr sz="1600"/>
          </a:p>
        </p:txBody>
      </p:sp>
      <p:pic>
        <p:nvPicPr>
          <p:cNvPr id="124" name="Google Shape;124;p21"/>
          <p:cNvPicPr preferRelativeResize="0"/>
          <p:nvPr/>
        </p:nvPicPr>
        <p:blipFill>
          <a:blip r:embed="rId3">
            <a:alphaModFix/>
          </a:blip>
          <a:stretch>
            <a:fillRect/>
          </a:stretch>
        </p:blipFill>
        <p:spPr>
          <a:xfrm>
            <a:off x="4698484" y="2040709"/>
            <a:ext cx="3436825" cy="1315825"/>
          </a:xfrm>
          <a:prstGeom prst="rect">
            <a:avLst/>
          </a:prstGeom>
          <a:noFill/>
          <a:ln>
            <a:noFill/>
          </a:ln>
        </p:spPr>
      </p:pic>
      <p:sp>
        <p:nvSpPr>
          <p:cNvPr id="125" name="Google Shape;125;p21"/>
          <p:cNvSpPr txBox="1"/>
          <p:nvPr/>
        </p:nvSpPr>
        <p:spPr>
          <a:xfrm>
            <a:off x="3777950" y="3493675"/>
            <a:ext cx="5277900" cy="136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dk2"/>
                </a:solidFill>
                <a:latin typeface="Roboto"/>
                <a:ea typeface="Roboto"/>
                <a:cs typeface="Roboto"/>
                <a:sym typeface="Roboto"/>
              </a:rPr>
              <a:t>Store_gap = customer_unique_store_count - customer_total_retailers</a:t>
            </a:r>
            <a:endParaRPr sz="1300" dirty="0">
              <a:solidFill>
                <a:schemeClr val="dk2"/>
              </a:solidFill>
              <a:latin typeface="Roboto"/>
              <a:ea typeface="Roboto"/>
              <a:cs typeface="Roboto"/>
              <a:sym typeface="Roboto"/>
            </a:endParaRPr>
          </a:p>
          <a:p>
            <a:pPr marL="0" lvl="0" indent="0" algn="l" rtl="0">
              <a:spcBef>
                <a:spcPts val="0"/>
              </a:spcBef>
              <a:spcAft>
                <a:spcPts val="0"/>
              </a:spcAft>
              <a:buNone/>
            </a:pPr>
            <a:endParaRPr sz="1300" dirty="0">
              <a:solidFill>
                <a:schemeClr val="dk2"/>
              </a:solidFill>
              <a:latin typeface="Roboto"/>
              <a:ea typeface="Roboto"/>
              <a:cs typeface="Roboto"/>
              <a:sym typeface="Roboto"/>
            </a:endParaRPr>
          </a:p>
          <a:p>
            <a:pPr marL="0" lvl="0" indent="0" algn="l" rtl="0">
              <a:spcBef>
                <a:spcPts val="0"/>
              </a:spcBef>
              <a:spcAft>
                <a:spcPts val="0"/>
              </a:spcAft>
              <a:buNone/>
            </a:pPr>
            <a:r>
              <a:rPr lang="en" sz="1300" dirty="0">
                <a:solidFill>
                  <a:schemeClr val="dk2"/>
                </a:solidFill>
                <a:latin typeface="Roboto"/>
                <a:ea typeface="Roboto"/>
                <a:cs typeface="Roboto"/>
                <a:sym typeface="Roboto"/>
              </a:rPr>
              <a:t>Customer_unique_store_count </a:t>
            </a:r>
            <a:r>
              <a:rPr lang="en" sz="1300" i="1" dirty="0">
                <a:solidFill>
                  <a:schemeClr val="dk2"/>
                </a:solidFill>
                <a:latin typeface="Roboto"/>
                <a:ea typeface="Roboto"/>
                <a:cs typeface="Roboto"/>
                <a:sym typeface="Roboto"/>
              </a:rPr>
              <a:t>(Scraped count of connections)</a:t>
            </a:r>
            <a:endParaRPr sz="1300" i="1" dirty="0">
              <a:solidFill>
                <a:schemeClr val="dk2"/>
              </a:solidFill>
              <a:latin typeface="Roboto"/>
              <a:ea typeface="Roboto"/>
              <a:cs typeface="Roboto"/>
              <a:sym typeface="Roboto"/>
            </a:endParaRPr>
          </a:p>
          <a:p>
            <a:pPr marL="0" lvl="0" indent="0" algn="l" rtl="0">
              <a:spcBef>
                <a:spcPts val="0"/>
              </a:spcBef>
              <a:spcAft>
                <a:spcPts val="0"/>
              </a:spcAft>
              <a:buNone/>
            </a:pPr>
            <a:r>
              <a:rPr lang="en" sz="1300" dirty="0">
                <a:solidFill>
                  <a:schemeClr val="dk2"/>
                </a:solidFill>
                <a:latin typeface="Roboto"/>
                <a:ea typeface="Roboto"/>
                <a:cs typeface="Roboto"/>
                <a:sym typeface="Roboto"/>
              </a:rPr>
              <a:t>Customer_total_retailers </a:t>
            </a:r>
            <a:r>
              <a:rPr lang="en" sz="1300" i="1" dirty="0">
                <a:solidFill>
                  <a:schemeClr val="dk2"/>
                </a:solidFill>
                <a:latin typeface="Roboto"/>
                <a:ea typeface="Roboto"/>
                <a:cs typeface="Roboto"/>
                <a:sym typeface="Roboto"/>
              </a:rPr>
              <a:t>(ORG provided count of connections)</a:t>
            </a:r>
            <a:endParaRPr sz="1300" i="1" dirty="0">
              <a:solidFill>
                <a:schemeClr val="dk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3711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Feature Engineering</a:t>
            </a:r>
            <a:endParaRPr/>
          </a:p>
        </p:txBody>
      </p:sp>
      <p:sp>
        <p:nvSpPr>
          <p:cNvPr id="131" name="Google Shape;131;p22"/>
          <p:cNvSpPr txBox="1">
            <a:spLocks noGrp="1"/>
          </p:cNvSpPr>
          <p:nvPr>
            <p:ph type="body" idx="1"/>
          </p:nvPr>
        </p:nvSpPr>
        <p:spPr>
          <a:xfrm>
            <a:off x="311700" y="1679975"/>
            <a:ext cx="3999900" cy="2810700"/>
          </a:xfrm>
          <a:prstGeom prst="rect">
            <a:avLst/>
          </a:prstGeom>
        </p:spPr>
        <p:txBody>
          <a:bodyPr spcFirstLastPara="1" wrap="square" lIns="91425" tIns="91425" rIns="91425" bIns="91425" anchor="t" anchorCtr="0">
            <a:normAutofit/>
          </a:bodyPr>
          <a:lstStyle/>
          <a:p>
            <a:pPr marL="457200" lvl="0" indent="-323850" algn="l" rtl="0">
              <a:lnSpc>
                <a:spcPct val="200000"/>
              </a:lnSpc>
              <a:spcBef>
                <a:spcPts val="0"/>
              </a:spcBef>
              <a:spcAft>
                <a:spcPts val="0"/>
              </a:spcAft>
              <a:buSzPts val="1500"/>
              <a:buChar char="●"/>
            </a:pPr>
            <a:r>
              <a:rPr lang="en" sz="1500"/>
              <a:t>Organization Size</a:t>
            </a:r>
            <a:endParaRPr sz="1500"/>
          </a:p>
          <a:p>
            <a:pPr marL="457200" lvl="0" indent="-323850" algn="l" rtl="0">
              <a:lnSpc>
                <a:spcPct val="200000"/>
              </a:lnSpc>
              <a:spcBef>
                <a:spcPts val="0"/>
              </a:spcBef>
              <a:spcAft>
                <a:spcPts val="0"/>
              </a:spcAft>
              <a:buSzPts val="1500"/>
              <a:buChar char="●"/>
            </a:pPr>
            <a:r>
              <a:rPr lang="en" sz="1500"/>
              <a:t>Count of Unique Items by Organization </a:t>
            </a:r>
            <a:endParaRPr sz="1500"/>
          </a:p>
          <a:p>
            <a:pPr marL="457200" lvl="0" indent="-323850" algn="l" rtl="0">
              <a:lnSpc>
                <a:spcPct val="200000"/>
              </a:lnSpc>
              <a:spcBef>
                <a:spcPts val="0"/>
              </a:spcBef>
              <a:spcAft>
                <a:spcPts val="0"/>
              </a:spcAft>
              <a:buSzPts val="1500"/>
              <a:buChar char="●"/>
            </a:pPr>
            <a:r>
              <a:rPr lang="en" sz="1500"/>
              <a:t>Log Transformation </a:t>
            </a:r>
            <a:endParaRPr sz="1500"/>
          </a:p>
        </p:txBody>
      </p:sp>
      <p:pic>
        <p:nvPicPr>
          <p:cNvPr id="132" name="Google Shape;132;p22"/>
          <p:cNvPicPr preferRelativeResize="0"/>
          <p:nvPr/>
        </p:nvPicPr>
        <p:blipFill>
          <a:blip r:embed="rId3">
            <a:alphaModFix/>
          </a:blip>
          <a:stretch>
            <a:fillRect/>
          </a:stretch>
        </p:blipFill>
        <p:spPr>
          <a:xfrm>
            <a:off x="4265600" y="1679971"/>
            <a:ext cx="4724601" cy="301922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a:spLocks noGrp="1"/>
          </p:cNvSpPr>
          <p:nvPr>
            <p:ph type="title"/>
          </p:nvPr>
        </p:nvSpPr>
        <p:spPr>
          <a:xfrm>
            <a:off x="311700" y="297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Exploratory Data Analysis</a:t>
            </a:r>
            <a:endParaRPr/>
          </a:p>
        </p:txBody>
      </p:sp>
      <p:sp>
        <p:nvSpPr>
          <p:cNvPr id="138" name="Google Shape;138;p23"/>
          <p:cNvSpPr txBox="1">
            <a:spLocks noGrp="1"/>
          </p:cNvSpPr>
          <p:nvPr>
            <p:ph type="body" idx="1"/>
          </p:nvPr>
        </p:nvSpPr>
        <p:spPr>
          <a:xfrm>
            <a:off x="311700" y="1418100"/>
            <a:ext cx="3176400" cy="3150900"/>
          </a:xfrm>
          <a:prstGeom prst="rect">
            <a:avLst/>
          </a:prstGeom>
        </p:spPr>
        <p:txBody>
          <a:bodyPr spcFirstLastPara="1" wrap="square" lIns="91425" tIns="91425" rIns="91425" bIns="91425" anchor="t" anchorCtr="0">
            <a:normAutofit fontScale="32500" lnSpcReduction="10000"/>
          </a:bodyPr>
          <a:lstStyle/>
          <a:p>
            <a:pPr marL="457200" lvl="0" indent="-304800" algn="l" rtl="0">
              <a:spcBef>
                <a:spcPts val="0"/>
              </a:spcBef>
              <a:spcAft>
                <a:spcPts val="0"/>
              </a:spcAft>
              <a:buSzPct val="100000"/>
              <a:buChar char="●"/>
            </a:pPr>
            <a:r>
              <a:rPr lang="en" sz="4800"/>
              <a:t>Org store gap distribution is relatively consistent across industry verticals</a:t>
            </a:r>
            <a:endParaRPr sz="4800"/>
          </a:p>
          <a:p>
            <a:pPr marL="457200" lvl="0" indent="0" algn="l" rtl="0">
              <a:spcBef>
                <a:spcPts val="1200"/>
              </a:spcBef>
              <a:spcAft>
                <a:spcPts val="0"/>
              </a:spcAft>
              <a:buNone/>
            </a:pPr>
            <a:endParaRPr sz="4800"/>
          </a:p>
          <a:p>
            <a:pPr marL="457200" lvl="0" indent="-304800" algn="l" rtl="0">
              <a:spcBef>
                <a:spcPts val="1200"/>
              </a:spcBef>
              <a:spcAft>
                <a:spcPts val="0"/>
              </a:spcAft>
              <a:buSzPct val="100000"/>
              <a:buChar char="●"/>
            </a:pPr>
            <a:r>
              <a:rPr lang="en" sz="4800"/>
              <a:t>Dominant Vertical</a:t>
            </a:r>
            <a:endParaRPr sz="4800"/>
          </a:p>
          <a:p>
            <a:pPr marL="914400" lvl="1" indent="-304800" algn="l" rtl="0">
              <a:spcBef>
                <a:spcPts val="0"/>
              </a:spcBef>
              <a:spcAft>
                <a:spcPts val="0"/>
              </a:spcAft>
              <a:buSzPct val="100000"/>
              <a:buChar char="○"/>
            </a:pPr>
            <a:r>
              <a:rPr lang="en" sz="4800"/>
              <a:t>Food and Drug</a:t>
            </a:r>
            <a:endParaRPr sz="4800"/>
          </a:p>
          <a:p>
            <a:pPr marL="457200" lvl="0" indent="0" algn="l" rtl="0">
              <a:spcBef>
                <a:spcPts val="1200"/>
              </a:spcBef>
              <a:spcAft>
                <a:spcPts val="0"/>
              </a:spcAft>
              <a:buNone/>
            </a:pPr>
            <a:endParaRPr sz="4800"/>
          </a:p>
          <a:p>
            <a:pPr marL="457200" lvl="0" indent="-304800" algn="l" rtl="0">
              <a:spcBef>
                <a:spcPts val="1200"/>
              </a:spcBef>
              <a:spcAft>
                <a:spcPts val="0"/>
              </a:spcAft>
              <a:buSzPct val="100000"/>
              <a:buChar char="●"/>
            </a:pPr>
            <a:r>
              <a:rPr lang="en" sz="4800"/>
              <a:t>Potential weak points</a:t>
            </a:r>
            <a:endParaRPr sz="4800"/>
          </a:p>
          <a:p>
            <a:pPr marL="914400" lvl="1" indent="-304800" algn="l" rtl="0">
              <a:spcBef>
                <a:spcPts val="0"/>
              </a:spcBef>
              <a:spcAft>
                <a:spcPts val="0"/>
              </a:spcAft>
              <a:buSzPct val="100000"/>
              <a:buChar char="○"/>
            </a:pPr>
            <a:r>
              <a:rPr lang="en" sz="4800"/>
              <a:t>Hardlines-Home</a:t>
            </a:r>
            <a:endParaRPr sz="4800"/>
          </a:p>
          <a:p>
            <a:pPr marL="914400" lvl="1" indent="-304800" algn="l" rtl="0">
              <a:spcBef>
                <a:spcPts val="0"/>
              </a:spcBef>
              <a:spcAft>
                <a:spcPts val="0"/>
              </a:spcAft>
              <a:buSzPct val="100000"/>
              <a:buChar char="○"/>
            </a:pPr>
            <a:r>
              <a:rPr lang="en" sz="4800"/>
              <a:t>Industrial</a:t>
            </a:r>
            <a:endParaRPr sz="4800"/>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139" name="Google Shape;139;p23" title="ind_vert.png"/>
          <p:cNvPicPr preferRelativeResize="0"/>
          <p:nvPr/>
        </p:nvPicPr>
        <p:blipFill>
          <a:blip r:embed="rId3">
            <a:alphaModFix/>
          </a:blip>
          <a:stretch>
            <a:fillRect/>
          </a:stretch>
        </p:blipFill>
        <p:spPr>
          <a:xfrm>
            <a:off x="3884620" y="1700158"/>
            <a:ext cx="4947691" cy="2709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a:spLocks noGrp="1"/>
          </p:cNvSpPr>
          <p:nvPr>
            <p:ph type="title"/>
          </p:nvPr>
        </p:nvSpPr>
        <p:spPr>
          <a:xfrm>
            <a:off x="311700" y="2676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Exploratory Data Analysis</a:t>
            </a:r>
            <a:endParaRPr/>
          </a:p>
        </p:txBody>
      </p:sp>
      <p:sp>
        <p:nvSpPr>
          <p:cNvPr id="145" name="Google Shape;145;p24"/>
          <p:cNvSpPr txBox="1">
            <a:spLocks noGrp="1"/>
          </p:cNvSpPr>
          <p:nvPr>
            <p:ph type="body" idx="1"/>
          </p:nvPr>
        </p:nvSpPr>
        <p:spPr>
          <a:xfrm>
            <a:off x="311700" y="1428425"/>
            <a:ext cx="4292400" cy="20439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Top 4 industry verticals</a:t>
            </a:r>
            <a:endParaRPr/>
          </a:p>
          <a:p>
            <a:pPr marL="914400" lvl="1" indent="-298450" algn="l" rtl="0">
              <a:spcBef>
                <a:spcPts val="0"/>
              </a:spcBef>
              <a:spcAft>
                <a:spcPts val="0"/>
              </a:spcAft>
              <a:buSzPts val="1100"/>
              <a:buChar char="○"/>
            </a:pPr>
            <a:r>
              <a:rPr lang="en"/>
              <a:t>By Doc Flow Avg (log scaled)</a:t>
            </a:r>
            <a:endParaRPr/>
          </a:p>
          <a:p>
            <a:pPr marL="1371600" lvl="2" indent="-298450" algn="l" rtl="0">
              <a:spcBef>
                <a:spcPts val="0"/>
              </a:spcBef>
              <a:spcAft>
                <a:spcPts val="0"/>
              </a:spcAft>
              <a:buSzPts val="1100"/>
              <a:buChar char="■"/>
            </a:pPr>
            <a:r>
              <a:rPr lang="en"/>
              <a:t>Grouped by has store gap (T/F)</a:t>
            </a:r>
            <a:endParaRPr/>
          </a:p>
          <a:p>
            <a:pPr marL="0" lvl="0" indent="0" algn="l" rtl="0">
              <a:spcBef>
                <a:spcPts val="1200"/>
              </a:spcBef>
              <a:spcAft>
                <a:spcPts val="0"/>
              </a:spcAft>
              <a:buNone/>
            </a:pPr>
            <a:endParaRPr/>
          </a:p>
          <a:p>
            <a:pPr marL="457200" lvl="0" indent="-311150" algn="l" rtl="0">
              <a:lnSpc>
                <a:spcPct val="100000"/>
              </a:lnSpc>
              <a:spcBef>
                <a:spcPts val="1200"/>
              </a:spcBef>
              <a:spcAft>
                <a:spcPts val="0"/>
              </a:spcAft>
              <a:buSzPts val="1300"/>
              <a:buChar char="●"/>
            </a:pPr>
            <a:r>
              <a:rPr lang="en"/>
              <a:t>What does this tell us?</a:t>
            </a:r>
            <a:endParaRPr/>
          </a:p>
        </p:txBody>
      </p:sp>
      <p:pic>
        <p:nvPicPr>
          <p:cNvPr id="146" name="Google Shape;146;p24"/>
          <p:cNvPicPr preferRelativeResize="0"/>
          <p:nvPr/>
        </p:nvPicPr>
        <p:blipFill>
          <a:blip r:embed="rId3">
            <a:alphaModFix/>
          </a:blip>
          <a:stretch>
            <a:fillRect/>
          </a:stretch>
        </p:blipFill>
        <p:spPr>
          <a:xfrm>
            <a:off x="4932825" y="1428426"/>
            <a:ext cx="3990625" cy="3564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a:spLocks noGrp="1"/>
          </p:cNvSpPr>
          <p:nvPr>
            <p:ph type="title"/>
          </p:nvPr>
        </p:nvSpPr>
        <p:spPr>
          <a:xfrm>
            <a:off x="311700" y="2455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
              <a:t>Exploratory Data Analysis</a:t>
            </a:r>
            <a:endParaRPr/>
          </a:p>
        </p:txBody>
      </p:sp>
      <p:pic>
        <p:nvPicPr>
          <p:cNvPr id="152" name="Google Shape;152;p25"/>
          <p:cNvPicPr preferRelativeResize="0"/>
          <p:nvPr/>
        </p:nvPicPr>
        <p:blipFill>
          <a:blip r:embed="rId3">
            <a:alphaModFix/>
          </a:blip>
          <a:stretch>
            <a:fillRect/>
          </a:stretch>
        </p:blipFill>
        <p:spPr>
          <a:xfrm>
            <a:off x="4280025" y="1323350"/>
            <a:ext cx="4552276" cy="3777626"/>
          </a:xfrm>
          <a:prstGeom prst="rect">
            <a:avLst/>
          </a:prstGeom>
          <a:noFill/>
          <a:ln>
            <a:noFill/>
          </a:ln>
        </p:spPr>
      </p:pic>
      <p:sp>
        <p:nvSpPr>
          <p:cNvPr id="153" name="Google Shape;153;p25"/>
          <p:cNvSpPr txBox="1"/>
          <p:nvPr/>
        </p:nvSpPr>
        <p:spPr>
          <a:xfrm>
            <a:off x="127450" y="1433688"/>
            <a:ext cx="4141800" cy="3336900"/>
          </a:xfrm>
          <a:prstGeom prst="rect">
            <a:avLst/>
          </a:prstGeom>
          <a:noFill/>
          <a:ln>
            <a:noFill/>
          </a:ln>
        </p:spPr>
        <p:txBody>
          <a:bodyPr spcFirstLastPara="1" wrap="square" lIns="91425" tIns="91425" rIns="91425" bIns="91425" anchor="t" anchorCtr="0">
            <a:spAutoFit/>
          </a:bodyPr>
          <a:lstStyle/>
          <a:p>
            <a:pPr marL="457200" lvl="0" indent="-307975" algn="l" rtl="0">
              <a:lnSpc>
                <a:spcPct val="115000"/>
              </a:lnSpc>
              <a:spcBef>
                <a:spcPts val="1000"/>
              </a:spcBef>
              <a:spcAft>
                <a:spcPts val="0"/>
              </a:spcAft>
              <a:buClr>
                <a:srgbClr val="222222"/>
              </a:buClr>
              <a:buSzPts val="1250"/>
              <a:buFont typeface="Times New Roman"/>
              <a:buChar char="●"/>
            </a:pPr>
            <a:r>
              <a:rPr lang="en" sz="1250">
                <a:solidFill>
                  <a:srgbClr val="222222"/>
                </a:solidFill>
                <a:highlight>
                  <a:srgbClr val="FFFFFF"/>
                </a:highlight>
                <a:latin typeface="Times New Roman"/>
                <a:ea typeface="Times New Roman"/>
                <a:cs typeface="Times New Roman"/>
                <a:sym typeface="Times New Roman"/>
              </a:rPr>
              <a:t>Identified multiple moderately strong correlations that informed our modeling approach.</a:t>
            </a:r>
            <a:endParaRPr sz="1250">
              <a:solidFill>
                <a:srgbClr val="222222"/>
              </a:solidFill>
              <a:highlight>
                <a:srgbClr val="FFFFFF"/>
              </a:highlight>
              <a:latin typeface="Times New Roman"/>
              <a:ea typeface="Times New Roman"/>
              <a:cs typeface="Times New Roman"/>
              <a:sym typeface="Times New Roman"/>
            </a:endParaRPr>
          </a:p>
          <a:p>
            <a:pPr marL="0" lvl="0" indent="0" algn="l" rtl="0">
              <a:lnSpc>
                <a:spcPct val="115000"/>
              </a:lnSpc>
              <a:spcBef>
                <a:spcPts val="1000"/>
              </a:spcBef>
              <a:spcAft>
                <a:spcPts val="0"/>
              </a:spcAft>
              <a:buNone/>
            </a:pPr>
            <a:endParaRPr sz="1250">
              <a:solidFill>
                <a:srgbClr val="222222"/>
              </a:solidFill>
              <a:highlight>
                <a:srgbClr val="FFFFFF"/>
              </a:highlight>
              <a:latin typeface="Times New Roman"/>
              <a:ea typeface="Times New Roman"/>
              <a:cs typeface="Times New Roman"/>
              <a:sym typeface="Times New Roman"/>
            </a:endParaRPr>
          </a:p>
          <a:p>
            <a:pPr marL="457200" lvl="0" indent="-307975" algn="l" rtl="0">
              <a:lnSpc>
                <a:spcPct val="115000"/>
              </a:lnSpc>
              <a:spcBef>
                <a:spcPts val="1000"/>
              </a:spcBef>
              <a:spcAft>
                <a:spcPts val="0"/>
              </a:spcAft>
              <a:buClr>
                <a:srgbClr val="222222"/>
              </a:buClr>
              <a:buSzPts val="1250"/>
              <a:buFont typeface="Times New Roman"/>
              <a:buChar char="●"/>
            </a:pPr>
            <a:r>
              <a:rPr lang="en" sz="1250">
                <a:solidFill>
                  <a:srgbClr val="222222"/>
                </a:solidFill>
                <a:highlight>
                  <a:srgbClr val="FFFFFF"/>
                </a:highlight>
                <a:latin typeface="Times New Roman"/>
                <a:ea typeface="Times New Roman"/>
                <a:cs typeface="Times New Roman"/>
                <a:sym typeface="Times New Roman"/>
              </a:rPr>
              <a:t>Document Flow ↔ Retailer Connections:</a:t>
            </a:r>
            <a:endParaRPr sz="1250">
              <a:solidFill>
                <a:srgbClr val="222222"/>
              </a:solidFill>
              <a:highlight>
                <a:srgbClr val="FFFFFF"/>
              </a:highlight>
              <a:latin typeface="Times New Roman"/>
              <a:ea typeface="Times New Roman"/>
              <a:cs typeface="Times New Roman"/>
              <a:sym typeface="Times New Roman"/>
            </a:endParaRPr>
          </a:p>
          <a:p>
            <a:pPr marL="914400" lvl="1" indent="-307975" algn="l" rtl="0">
              <a:lnSpc>
                <a:spcPct val="115000"/>
              </a:lnSpc>
              <a:spcBef>
                <a:spcPts val="0"/>
              </a:spcBef>
              <a:spcAft>
                <a:spcPts val="0"/>
              </a:spcAft>
              <a:buClr>
                <a:srgbClr val="222222"/>
              </a:buClr>
              <a:buSzPts val="1250"/>
              <a:buFont typeface="Times New Roman"/>
              <a:buChar char="○"/>
            </a:pPr>
            <a:r>
              <a:rPr lang="en" sz="1250">
                <a:solidFill>
                  <a:srgbClr val="222222"/>
                </a:solidFill>
                <a:highlight>
                  <a:srgbClr val="FFFFFF"/>
                </a:highlight>
                <a:latin typeface="Times New Roman"/>
                <a:ea typeface="Times New Roman"/>
                <a:cs typeface="Times New Roman"/>
                <a:sym typeface="Times New Roman"/>
              </a:rPr>
              <a:t>Positive correlation of 0.56</a:t>
            </a:r>
            <a:endParaRPr sz="1250">
              <a:solidFill>
                <a:srgbClr val="222222"/>
              </a:solidFill>
              <a:highlight>
                <a:srgbClr val="FFFFFF"/>
              </a:highlight>
              <a:latin typeface="Times New Roman"/>
              <a:ea typeface="Times New Roman"/>
              <a:cs typeface="Times New Roman"/>
              <a:sym typeface="Times New Roman"/>
            </a:endParaRPr>
          </a:p>
          <a:p>
            <a:pPr marL="914400" lvl="1" indent="-307975" algn="l" rtl="0">
              <a:lnSpc>
                <a:spcPct val="100000"/>
              </a:lnSpc>
              <a:spcBef>
                <a:spcPts val="1000"/>
              </a:spcBef>
              <a:spcAft>
                <a:spcPts val="0"/>
              </a:spcAft>
              <a:buClr>
                <a:srgbClr val="222222"/>
              </a:buClr>
              <a:buSzPts val="1250"/>
              <a:buFont typeface="Times New Roman"/>
              <a:buChar char="○"/>
            </a:pPr>
            <a:r>
              <a:rPr lang="en" sz="1250">
                <a:solidFill>
                  <a:srgbClr val="222222"/>
                </a:solidFill>
                <a:highlight>
                  <a:srgbClr val="FFFFFF"/>
                </a:highlight>
                <a:latin typeface="Times New Roman"/>
                <a:ea typeface="Times New Roman"/>
                <a:cs typeface="Times New Roman"/>
                <a:sym typeface="Times New Roman"/>
              </a:rPr>
              <a:t>Indicates that customers with more retailer connections tend to have higher document flow.</a:t>
            </a:r>
            <a:endParaRPr sz="1250">
              <a:solidFill>
                <a:srgbClr val="222222"/>
              </a:solidFill>
              <a:highlight>
                <a:srgbClr val="FFFFFF"/>
              </a:highlight>
              <a:latin typeface="Times New Roman"/>
              <a:ea typeface="Times New Roman"/>
              <a:cs typeface="Times New Roman"/>
              <a:sym typeface="Times New Roman"/>
            </a:endParaRPr>
          </a:p>
          <a:p>
            <a:pPr marL="0" lvl="0" indent="0" algn="l" rtl="0">
              <a:lnSpc>
                <a:spcPct val="100000"/>
              </a:lnSpc>
              <a:spcBef>
                <a:spcPts val="1000"/>
              </a:spcBef>
              <a:spcAft>
                <a:spcPts val="0"/>
              </a:spcAft>
              <a:buNone/>
            </a:pPr>
            <a:endParaRPr sz="1250">
              <a:solidFill>
                <a:srgbClr val="222222"/>
              </a:solidFill>
              <a:highlight>
                <a:srgbClr val="FFFFFF"/>
              </a:highlight>
              <a:latin typeface="Times New Roman"/>
              <a:ea typeface="Times New Roman"/>
              <a:cs typeface="Times New Roman"/>
              <a:sym typeface="Times New Roman"/>
            </a:endParaRPr>
          </a:p>
          <a:p>
            <a:pPr marL="457200" lvl="0" indent="-307975" algn="l" rtl="0">
              <a:lnSpc>
                <a:spcPct val="100000"/>
              </a:lnSpc>
              <a:spcBef>
                <a:spcPts val="1000"/>
              </a:spcBef>
              <a:spcAft>
                <a:spcPts val="0"/>
              </a:spcAft>
              <a:buClr>
                <a:srgbClr val="222222"/>
              </a:buClr>
              <a:buSzPts val="1250"/>
              <a:buFont typeface="Times New Roman"/>
              <a:buChar char="●"/>
            </a:pPr>
            <a:r>
              <a:rPr lang="en" sz="1250">
                <a:solidFill>
                  <a:srgbClr val="222222"/>
                </a:solidFill>
                <a:highlight>
                  <a:srgbClr val="FFFFFF"/>
                </a:highlight>
                <a:latin typeface="Times New Roman"/>
                <a:ea typeface="Times New Roman"/>
                <a:cs typeface="Times New Roman"/>
                <a:sym typeface="Times New Roman"/>
              </a:rPr>
              <a:t>Store Gap ↔ Retailer Connections:</a:t>
            </a:r>
            <a:endParaRPr sz="1250">
              <a:solidFill>
                <a:srgbClr val="222222"/>
              </a:solidFill>
              <a:highlight>
                <a:srgbClr val="FFFFFF"/>
              </a:highlight>
              <a:latin typeface="Times New Roman"/>
              <a:ea typeface="Times New Roman"/>
              <a:cs typeface="Times New Roman"/>
              <a:sym typeface="Times New Roman"/>
            </a:endParaRPr>
          </a:p>
          <a:p>
            <a:pPr marL="914400" lvl="1" indent="-307975" algn="l" rtl="0">
              <a:lnSpc>
                <a:spcPct val="115000"/>
              </a:lnSpc>
              <a:spcBef>
                <a:spcPts val="0"/>
              </a:spcBef>
              <a:spcAft>
                <a:spcPts val="0"/>
              </a:spcAft>
              <a:buClr>
                <a:srgbClr val="222222"/>
              </a:buClr>
              <a:buSzPts val="1250"/>
              <a:buFont typeface="Times New Roman"/>
              <a:buChar char="○"/>
            </a:pPr>
            <a:r>
              <a:rPr lang="en" sz="1250">
                <a:solidFill>
                  <a:srgbClr val="222222"/>
                </a:solidFill>
                <a:highlight>
                  <a:srgbClr val="FFFFFF"/>
                </a:highlight>
                <a:latin typeface="Times New Roman"/>
                <a:ea typeface="Times New Roman"/>
                <a:cs typeface="Times New Roman"/>
                <a:sym typeface="Times New Roman"/>
              </a:rPr>
              <a:t>Negative correlation of -0.53</a:t>
            </a:r>
            <a:endParaRPr sz="1250">
              <a:solidFill>
                <a:srgbClr val="222222"/>
              </a:solidFill>
              <a:highlight>
                <a:srgbClr val="FFFFFF"/>
              </a:highlight>
              <a:latin typeface="Times New Roman"/>
              <a:ea typeface="Times New Roman"/>
              <a:cs typeface="Times New Roman"/>
              <a:sym typeface="Times New Roman"/>
            </a:endParaRPr>
          </a:p>
          <a:p>
            <a:pPr marL="914400" lvl="1" indent="-307975" algn="l" rtl="0">
              <a:lnSpc>
                <a:spcPct val="115000"/>
              </a:lnSpc>
              <a:spcBef>
                <a:spcPts val="0"/>
              </a:spcBef>
              <a:spcAft>
                <a:spcPts val="0"/>
              </a:spcAft>
              <a:buClr>
                <a:srgbClr val="222222"/>
              </a:buClr>
              <a:buSzPts val="1250"/>
              <a:buFont typeface="Times New Roman"/>
              <a:buChar char="○"/>
            </a:pPr>
            <a:r>
              <a:rPr lang="en" sz="1250">
                <a:solidFill>
                  <a:srgbClr val="222222"/>
                </a:solidFill>
                <a:highlight>
                  <a:srgbClr val="FFFFFF"/>
                </a:highlight>
                <a:latin typeface="Times New Roman"/>
                <a:ea typeface="Times New Roman"/>
                <a:cs typeface="Times New Roman"/>
                <a:sym typeface="Times New Roman"/>
              </a:rPr>
              <a:t>As retailer connections increase, the likelihood of having a store gap decreases.</a:t>
            </a:r>
            <a:endParaRPr sz="125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311700" y="2307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Explored Ranking Methods</a:t>
            </a:r>
            <a:endParaRPr/>
          </a:p>
        </p:txBody>
      </p:sp>
      <p:sp>
        <p:nvSpPr>
          <p:cNvPr id="159" name="Google Shape;159;p26"/>
          <p:cNvSpPr txBox="1">
            <a:spLocks noGrp="1"/>
          </p:cNvSpPr>
          <p:nvPr>
            <p:ph type="body" idx="1"/>
          </p:nvPr>
        </p:nvSpPr>
        <p:spPr>
          <a:xfrm>
            <a:off x="311700" y="939025"/>
            <a:ext cx="4100100" cy="40863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None/>
            </a:pPr>
            <a:r>
              <a:rPr lang="en" sz="2300" b="1" dirty="0"/>
              <a:t>Method 1:</a:t>
            </a:r>
            <a:endParaRPr sz="2300" b="1" dirty="0"/>
          </a:p>
          <a:p>
            <a:pPr marL="0" lvl="0" indent="0" algn="l" rtl="0">
              <a:spcBef>
                <a:spcPts val="1200"/>
              </a:spcBef>
              <a:spcAft>
                <a:spcPts val="0"/>
              </a:spcAft>
              <a:buNone/>
            </a:pPr>
            <a:br>
              <a:rPr lang="en" sz="1500" b="1" dirty="0"/>
            </a:br>
            <a:r>
              <a:rPr lang="en" sz="1980" b="1" dirty="0">
                <a:solidFill>
                  <a:schemeClr val="dk1"/>
                </a:solidFill>
              </a:rPr>
              <a:t>Calculate derived performance metrics</a:t>
            </a:r>
            <a:endParaRPr sz="1980" b="1" dirty="0">
              <a:solidFill>
                <a:schemeClr val="dk1"/>
              </a:solidFill>
            </a:endParaRPr>
          </a:p>
          <a:p>
            <a:pPr marL="457200" lvl="0" indent="-292926" algn="l" rtl="0">
              <a:spcBef>
                <a:spcPts val="1200"/>
              </a:spcBef>
              <a:spcAft>
                <a:spcPts val="0"/>
              </a:spcAft>
              <a:buClr>
                <a:schemeClr val="dk1"/>
              </a:buClr>
              <a:buSzPct val="100000"/>
              <a:buChar char="●"/>
            </a:pPr>
            <a:r>
              <a:rPr lang="en" sz="1842" dirty="0">
                <a:solidFill>
                  <a:schemeClr val="dk1"/>
                </a:solidFill>
              </a:rPr>
              <a:t>Store Gap = unique stores − retailer connections</a:t>
            </a:r>
            <a:endParaRPr sz="1842" dirty="0">
              <a:solidFill>
                <a:schemeClr val="dk1"/>
              </a:solidFill>
            </a:endParaRPr>
          </a:p>
          <a:p>
            <a:pPr marL="457200" lvl="0" indent="-292926" algn="l" rtl="0">
              <a:spcBef>
                <a:spcPts val="0"/>
              </a:spcBef>
              <a:spcAft>
                <a:spcPts val="0"/>
              </a:spcAft>
              <a:buClr>
                <a:schemeClr val="dk1"/>
              </a:buClr>
              <a:buSzPct val="100000"/>
              <a:buChar char="●"/>
            </a:pPr>
            <a:r>
              <a:rPr lang="en" sz="1842" dirty="0">
                <a:solidFill>
                  <a:schemeClr val="dk1"/>
                </a:solidFill>
              </a:rPr>
              <a:t>Velocity per Store = total transactions / retailer connections</a:t>
            </a:r>
            <a:endParaRPr sz="1842" dirty="0">
              <a:solidFill>
                <a:schemeClr val="dk1"/>
              </a:solidFill>
            </a:endParaRPr>
          </a:p>
          <a:p>
            <a:pPr marL="457200" lvl="0" indent="-292926" algn="l" rtl="0">
              <a:spcBef>
                <a:spcPts val="0"/>
              </a:spcBef>
              <a:spcAft>
                <a:spcPts val="0"/>
              </a:spcAft>
              <a:buClr>
                <a:schemeClr val="dk1"/>
              </a:buClr>
              <a:buSzPct val="100000"/>
              <a:buChar char="●"/>
            </a:pPr>
            <a:r>
              <a:rPr lang="en" sz="1842" dirty="0">
                <a:solidFill>
                  <a:schemeClr val="dk1"/>
                </a:solidFill>
              </a:rPr>
              <a:t>Doc Flow per Store = avg doc flow / retailer connections</a:t>
            </a:r>
            <a:endParaRPr sz="1842" dirty="0">
              <a:solidFill>
                <a:schemeClr val="dk1"/>
              </a:solidFill>
            </a:endParaRPr>
          </a:p>
          <a:p>
            <a:pPr marL="0" lvl="0" indent="0" algn="l" rtl="0">
              <a:spcBef>
                <a:spcPts val="1200"/>
              </a:spcBef>
              <a:spcAft>
                <a:spcPts val="0"/>
              </a:spcAft>
              <a:buNone/>
            </a:pPr>
            <a:r>
              <a:rPr lang="en" sz="1980" b="1" dirty="0">
                <a:solidFill>
                  <a:schemeClr val="dk1"/>
                </a:solidFill>
              </a:rPr>
              <a:t>Normalized each metric</a:t>
            </a:r>
            <a:endParaRPr sz="1980" b="1" dirty="0">
              <a:solidFill>
                <a:schemeClr val="dk1"/>
              </a:solidFill>
            </a:endParaRPr>
          </a:p>
          <a:p>
            <a:pPr marL="0" lvl="0" indent="0" algn="l" rtl="0">
              <a:spcBef>
                <a:spcPts val="1200"/>
              </a:spcBef>
              <a:spcAft>
                <a:spcPts val="0"/>
              </a:spcAft>
              <a:buClr>
                <a:schemeClr val="dk1"/>
              </a:buClr>
              <a:buSzPct val="55556"/>
              <a:buFont typeface="Arial"/>
              <a:buNone/>
            </a:pPr>
            <a:r>
              <a:rPr lang="en" sz="1980" b="1" dirty="0">
                <a:solidFill>
                  <a:schemeClr val="dk1"/>
                </a:solidFill>
              </a:rPr>
              <a:t>Apply weighted scoring formula</a:t>
            </a:r>
            <a:endParaRPr sz="1980" b="1" dirty="0">
              <a:solidFill>
                <a:schemeClr val="dk1"/>
              </a:solidFill>
            </a:endParaRPr>
          </a:p>
          <a:p>
            <a:pPr marL="457200" lvl="0" indent="-293688" algn="l" rtl="0">
              <a:spcBef>
                <a:spcPts val="1200"/>
              </a:spcBef>
              <a:spcAft>
                <a:spcPts val="0"/>
              </a:spcAft>
              <a:buClr>
                <a:schemeClr val="dk1"/>
              </a:buClr>
              <a:buSzPct val="100000"/>
              <a:buChar char="●"/>
            </a:pPr>
            <a:r>
              <a:rPr lang="en" sz="1864" dirty="0">
                <a:solidFill>
                  <a:schemeClr val="dk1"/>
                </a:solidFill>
              </a:rPr>
              <a:t>Store Gap - 45%</a:t>
            </a:r>
            <a:endParaRPr sz="1864" dirty="0">
              <a:solidFill>
                <a:schemeClr val="dk1"/>
              </a:solidFill>
            </a:endParaRPr>
          </a:p>
          <a:p>
            <a:pPr marL="457200" lvl="0" indent="-293688" algn="l" rtl="0">
              <a:spcBef>
                <a:spcPts val="0"/>
              </a:spcBef>
              <a:spcAft>
                <a:spcPts val="0"/>
              </a:spcAft>
              <a:buClr>
                <a:schemeClr val="dk1"/>
              </a:buClr>
              <a:buSzPct val="100000"/>
              <a:buChar char="●"/>
            </a:pPr>
            <a:r>
              <a:rPr lang="en" sz="1864" dirty="0">
                <a:solidFill>
                  <a:schemeClr val="dk1"/>
                </a:solidFill>
              </a:rPr>
              <a:t>Doc Flow per Store - 25%</a:t>
            </a:r>
            <a:endParaRPr sz="1864" dirty="0">
              <a:solidFill>
                <a:schemeClr val="dk1"/>
              </a:solidFill>
            </a:endParaRPr>
          </a:p>
          <a:p>
            <a:pPr marL="457200" lvl="0" indent="-293688" algn="l" rtl="0">
              <a:spcBef>
                <a:spcPts val="0"/>
              </a:spcBef>
              <a:spcAft>
                <a:spcPts val="0"/>
              </a:spcAft>
              <a:buClr>
                <a:schemeClr val="dk1"/>
              </a:buClr>
              <a:buSzPct val="100000"/>
              <a:buChar char="●"/>
            </a:pPr>
            <a:r>
              <a:rPr lang="en" sz="1864" dirty="0">
                <a:solidFill>
                  <a:schemeClr val="dk1"/>
                </a:solidFill>
              </a:rPr>
              <a:t>Transaction Velocity - 15%</a:t>
            </a:r>
            <a:endParaRPr sz="1864" dirty="0">
              <a:solidFill>
                <a:schemeClr val="dk1"/>
              </a:solidFill>
            </a:endParaRPr>
          </a:p>
          <a:p>
            <a:pPr marL="457200" lvl="0" indent="-293688" algn="l" rtl="0">
              <a:spcBef>
                <a:spcPts val="0"/>
              </a:spcBef>
              <a:spcAft>
                <a:spcPts val="0"/>
              </a:spcAft>
              <a:buClr>
                <a:schemeClr val="dk1"/>
              </a:buClr>
              <a:buSzPct val="100000"/>
              <a:buChar char="●"/>
            </a:pPr>
            <a:r>
              <a:rPr lang="en" sz="1864" dirty="0">
                <a:solidFill>
                  <a:schemeClr val="dk1"/>
                </a:solidFill>
              </a:rPr>
              <a:t>Years with Org - 15%</a:t>
            </a:r>
            <a:endParaRPr sz="1864" dirty="0">
              <a:solidFill>
                <a:schemeClr val="dk1"/>
              </a:solidFill>
            </a:endParaRPr>
          </a:p>
          <a:p>
            <a:pPr marL="0" lvl="0" indent="0" algn="l" rtl="0">
              <a:spcBef>
                <a:spcPts val="1200"/>
              </a:spcBef>
              <a:spcAft>
                <a:spcPts val="0"/>
              </a:spcAft>
              <a:buNone/>
            </a:pPr>
            <a:r>
              <a:rPr lang="en" sz="1980" b="1" dirty="0">
                <a:solidFill>
                  <a:schemeClr val="dk1"/>
                </a:solidFill>
              </a:rPr>
              <a:t>Generate final opportunity score</a:t>
            </a:r>
            <a:endParaRPr sz="1980" b="1" dirty="0">
              <a:solidFill>
                <a:schemeClr val="dk1"/>
              </a:solidFill>
            </a:endParaRPr>
          </a:p>
          <a:p>
            <a:pPr marL="457200" lvl="0" indent="-293688" algn="l" rtl="0">
              <a:spcBef>
                <a:spcPts val="1200"/>
              </a:spcBef>
              <a:spcAft>
                <a:spcPts val="0"/>
              </a:spcAft>
              <a:buClr>
                <a:schemeClr val="dk1"/>
              </a:buClr>
              <a:buSzPct val="100000"/>
              <a:buChar char="●"/>
            </a:pPr>
            <a:r>
              <a:rPr lang="en" sz="1864" dirty="0">
                <a:solidFill>
                  <a:schemeClr val="dk1"/>
                </a:solidFill>
              </a:rPr>
              <a:t>Weighted sum of all normalized metrics</a:t>
            </a:r>
            <a:endParaRPr sz="1864" dirty="0">
              <a:solidFill>
                <a:schemeClr val="dk1"/>
              </a:solidFill>
            </a:endParaRPr>
          </a:p>
          <a:p>
            <a:pPr marL="457200" lvl="0" indent="-293688" algn="l" rtl="0">
              <a:spcBef>
                <a:spcPts val="0"/>
              </a:spcBef>
              <a:spcAft>
                <a:spcPts val="0"/>
              </a:spcAft>
              <a:buClr>
                <a:schemeClr val="dk1"/>
              </a:buClr>
              <a:buSzPct val="100000"/>
              <a:buChar char="●"/>
            </a:pPr>
            <a:r>
              <a:rPr lang="en" sz="1864" dirty="0">
                <a:solidFill>
                  <a:schemeClr val="dk1"/>
                </a:solidFill>
              </a:rPr>
              <a:t>Higher = greater opportunity / priority</a:t>
            </a:r>
            <a:endParaRPr sz="1864" dirty="0">
              <a:solidFill>
                <a:schemeClr val="dk1"/>
              </a:solidFill>
            </a:endParaRPr>
          </a:p>
          <a:p>
            <a:pPr marL="0" lvl="0" indent="0" algn="l" rtl="0">
              <a:spcBef>
                <a:spcPts val="1200"/>
              </a:spcBef>
              <a:spcAft>
                <a:spcPts val="0"/>
              </a:spcAft>
              <a:buNone/>
            </a:pPr>
            <a:endParaRPr sz="1250" dirty="0">
              <a:solidFill>
                <a:schemeClr val="dk1"/>
              </a:solidFill>
            </a:endParaRPr>
          </a:p>
          <a:p>
            <a:pPr marL="0" lvl="0" indent="0" algn="l" rtl="0">
              <a:spcBef>
                <a:spcPts val="1200"/>
              </a:spcBef>
              <a:spcAft>
                <a:spcPts val="1200"/>
              </a:spcAft>
              <a:buNone/>
            </a:pPr>
            <a:endParaRPr sz="1200" b="1" dirty="0">
              <a:solidFill>
                <a:schemeClr val="dk1"/>
              </a:solidFill>
            </a:endParaRPr>
          </a:p>
        </p:txBody>
      </p:sp>
      <p:sp>
        <p:nvSpPr>
          <p:cNvPr id="160" name="Google Shape;160;p26"/>
          <p:cNvSpPr txBox="1">
            <a:spLocks noGrp="1"/>
          </p:cNvSpPr>
          <p:nvPr>
            <p:ph type="body" idx="2"/>
          </p:nvPr>
        </p:nvSpPr>
        <p:spPr>
          <a:xfrm>
            <a:off x="4972800" y="939025"/>
            <a:ext cx="3999900" cy="41379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Clr>
                <a:schemeClr val="dk1"/>
              </a:buClr>
              <a:buSzPct val="44000"/>
              <a:buFont typeface="Arial"/>
              <a:buNone/>
            </a:pPr>
            <a:r>
              <a:rPr lang="en" sz="2500" b="1" dirty="0"/>
              <a:t>Method 2:</a:t>
            </a:r>
            <a:br>
              <a:rPr lang="en" b="1" dirty="0"/>
            </a:br>
            <a:endParaRPr sz="1000" b="1" dirty="0"/>
          </a:p>
          <a:p>
            <a:pPr marL="0" lvl="0" indent="0" algn="l" rtl="0">
              <a:spcBef>
                <a:spcPts val="1200"/>
              </a:spcBef>
              <a:spcAft>
                <a:spcPts val="0"/>
              </a:spcAft>
              <a:buClr>
                <a:schemeClr val="dk1"/>
              </a:buClr>
              <a:buSzPct val="55556"/>
              <a:buFont typeface="Arial"/>
              <a:buNone/>
            </a:pPr>
            <a:r>
              <a:rPr lang="en" sz="1980" b="1" dirty="0">
                <a:solidFill>
                  <a:schemeClr val="dk1"/>
                </a:solidFill>
              </a:rPr>
              <a:t>Filter based on UPCs</a:t>
            </a:r>
            <a:endParaRPr sz="1980" b="1" dirty="0">
              <a:solidFill>
                <a:schemeClr val="dk1"/>
              </a:solidFill>
            </a:endParaRPr>
          </a:p>
          <a:p>
            <a:pPr marL="457200" lvl="0" indent="-292926" algn="l" rtl="0">
              <a:spcBef>
                <a:spcPts val="1200"/>
              </a:spcBef>
              <a:spcAft>
                <a:spcPts val="0"/>
              </a:spcAft>
              <a:buClr>
                <a:schemeClr val="dk1"/>
              </a:buClr>
              <a:buSzPct val="100000"/>
              <a:buChar char="●"/>
            </a:pPr>
            <a:r>
              <a:rPr lang="en" sz="1842" dirty="0">
                <a:solidFill>
                  <a:schemeClr val="dk1"/>
                </a:solidFill>
              </a:rPr>
              <a:t>Identify store gap based on unique stores and connections</a:t>
            </a:r>
            <a:endParaRPr sz="1842" dirty="0">
              <a:solidFill>
                <a:schemeClr val="dk1"/>
              </a:solidFill>
            </a:endParaRPr>
          </a:p>
          <a:p>
            <a:pPr marL="457200" lvl="0" indent="-292926" algn="l" rtl="0">
              <a:spcBef>
                <a:spcPts val="0"/>
              </a:spcBef>
              <a:spcAft>
                <a:spcPts val="0"/>
              </a:spcAft>
              <a:buClr>
                <a:schemeClr val="dk1"/>
              </a:buClr>
              <a:buSzPct val="100000"/>
              <a:buChar char="●"/>
            </a:pPr>
            <a:r>
              <a:rPr lang="en" sz="1842" dirty="0">
                <a:solidFill>
                  <a:schemeClr val="dk1"/>
                </a:solidFill>
              </a:rPr>
              <a:t>Focuses more on total UPC counts + Doc Flow</a:t>
            </a:r>
            <a:endParaRPr sz="1842" dirty="0">
              <a:solidFill>
                <a:schemeClr val="dk1"/>
              </a:solidFill>
            </a:endParaRPr>
          </a:p>
          <a:p>
            <a:pPr marL="0" lvl="0" indent="0" algn="l" rtl="0">
              <a:spcBef>
                <a:spcPts val="1200"/>
              </a:spcBef>
              <a:spcAft>
                <a:spcPts val="0"/>
              </a:spcAft>
              <a:buClr>
                <a:schemeClr val="dk1"/>
              </a:buClr>
              <a:buSzPct val="55556"/>
              <a:buFont typeface="Arial"/>
              <a:buNone/>
            </a:pPr>
            <a:r>
              <a:rPr lang="en" sz="1980" b="1" dirty="0">
                <a:solidFill>
                  <a:schemeClr val="dk1"/>
                </a:solidFill>
              </a:rPr>
              <a:t>Normalized each metric</a:t>
            </a:r>
            <a:endParaRPr sz="1980" b="1" dirty="0">
              <a:solidFill>
                <a:schemeClr val="dk1"/>
              </a:solidFill>
            </a:endParaRPr>
          </a:p>
          <a:p>
            <a:pPr marL="0" lvl="0" indent="0" algn="l" rtl="0">
              <a:spcBef>
                <a:spcPts val="1200"/>
              </a:spcBef>
              <a:spcAft>
                <a:spcPts val="0"/>
              </a:spcAft>
              <a:buClr>
                <a:schemeClr val="dk1"/>
              </a:buClr>
              <a:buSzPct val="55556"/>
              <a:buFont typeface="Arial"/>
              <a:buNone/>
            </a:pPr>
            <a:r>
              <a:rPr lang="en" sz="1980" b="1" dirty="0">
                <a:solidFill>
                  <a:schemeClr val="dk1"/>
                </a:solidFill>
              </a:rPr>
              <a:t>Apply weighted scoring formula using linearity</a:t>
            </a:r>
            <a:endParaRPr sz="1980" b="1" dirty="0">
              <a:solidFill>
                <a:schemeClr val="dk1"/>
              </a:solidFill>
            </a:endParaRPr>
          </a:p>
          <a:p>
            <a:pPr marL="457200" lvl="0" indent="-293688" algn="l" rtl="0">
              <a:spcBef>
                <a:spcPts val="1200"/>
              </a:spcBef>
              <a:spcAft>
                <a:spcPts val="0"/>
              </a:spcAft>
              <a:buClr>
                <a:schemeClr val="dk1"/>
              </a:buClr>
              <a:buSzPct val="100000"/>
              <a:buChar char="●"/>
            </a:pPr>
            <a:r>
              <a:rPr lang="en" sz="1864" dirty="0">
                <a:solidFill>
                  <a:schemeClr val="dk1"/>
                </a:solidFill>
              </a:rPr>
              <a:t>Doc Flow per Store - 45% (X1)</a:t>
            </a:r>
            <a:endParaRPr sz="1864" dirty="0">
              <a:solidFill>
                <a:schemeClr val="dk1"/>
              </a:solidFill>
            </a:endParaRPr>
          </a:p>
          <a:p>
            <a:pPr marL="457200" lvl="0" indent="-293688" algn="l" rtl="0">
              <a:spcBef>
                <a:spcPts val="0"/>
              </a:spcBef>
              <a:spcAft>
                <a:spcPts val="0"/>
              </a:spcAft>
              <a:buClr>
                <a:schemeClr val="dk1"/>
              </a:buClr>
              <a:buSzPct val="100000"/>
              <a:buChar char="●"/>
            </a:pPr>
            <a:r>
              <a:rPr lang="en" sz="1864" dirty="0">
                <a:solidFill>
                  <a:schemeClr val="dk1"/>
                </a:solidFill>
              </a:rPr>
              <a:t>Valid UPC counts - 40% (X2)</a:t>
            </a:r>
            <a:endParaRPr sz="1864" dirty="0">
              <a:solidFill>
                <a:schemeClr val="dk1"/>
              </a:solidFill>
            </a:endParaRPr>
          </a:p>
          <a:p>
            <a:pPr marL="457200" lvl="0" indent="-293688" algn="l" rtl="0">
              <a:spcBef>
                <a:spcPts val="0"/>
              </a:spcBef>
              <a:spcAft>
                <a:spcPts val="0"/>
              </a:spcAft>
              <a:buClr>
                <a:schemeClr val="dk1"/>
              </a:buClr>
              <a:buSzPct val="100000"/>
              <a:buChar char="●"/>
            </a:pPr>
            <a:r>
              <a:rPr lang="en" sz="1864" dirty="0">
                <a:solidFill>
                  <a:schemeClr val="dk1"/>
                </a:solidFill>
              </a:rPr>
              <a:t>Years with Org - 5% (X3)</a:t>
            </a:r>
            <a:endParaRPr sz="1864" dirty="0">
              <a:solidFill>
                <a:schemeClr val="dk1"/>
              </a:solidFill>
            </a:endParaRPr>
          </a:p>
          <a:p>
            <a:pPr marL="457200" lvl="0" indent="-293688" algn="l" rtl="0">
              <a:spcBef>
                <a:spcPts val="0"/>
              </a:spcBef>
              <a:spcAft>
                <a:spcPts val="0"/>
              </a:spcAft>
              <a:buClr>
                <a:schemeClr val="dk1"/>
              </a:buClr>
              <a:buSzPct val="100000"/>
              <a:buChar char="●"/>
            </a:pPr>
            <a:r>
              <a:rPr lang="en" sz="1864" dirty="0">
                <a:solidFill>
                  <a:schemeClr val="dk1"/>
                </a:solidFill>
              </a:rPr>
              <a:t>Annual Revenue - 2% (X4)</a:t>
            </a:r>
            <a:endParaRPr sz="1864" dirty="0">
              <a:solidFill>
                <a:schemeClr val="dk1"/>
              </a:solidFill>
            </a:endParaRPr>
          </a:p>
          <a:p>
            <a:pPr marL="0" lvl="0" indent="0" algn="l" rtl="0">
              <a:spcBef>
                <a:spcPts val="1200"/>
              </a:spcBef>
              <a:spcAft>
                <a:spcPts val="0"/>
              </a:spcAft>
              <a:buClr>
                <a:schemeClr val="dk1"/>
              </a:buClr>
              <a:buSzPct val="55556"/>
              <a:buFont typeface="Arial"/>
              <a:buNone/>
            </a:pPr>
            <a:r>
              <a:rPr lang="en" sz="1980" b="1" dirty="0">
                <a:solidFill>
                  <a:schemeClr val="dk1"/>
                </a:solidFill>
              </a:rPr>
              <a:t>Generate final opportunity score</a:t>
            </a:r>
            <a:endParaRPr sz="1980" b="1" dirty="0">
              <a:solidFill>
                <a:schemeClr val="dk1"/>
              </a:solidFill>
            </a:endParaRPr>
          </a:p>
          <a:p>
            <a:pPr marL="457200" lvl="0" indent="-293688" algn="l" rtl="0">
              <a:spcBef>
                <a:spcPts val="1200"/>
              </a:spcBef>
              <a:spcAft>
                <a:spcPts val="0"/>
              </a:spcAft>
              <a:buClr>
                <a:schemeClr val="dk1"/>
              </a:buClr>
              <a:buSzPct val="100000"/>
              <a:buChar char="●"/>
            </a:pPr>
            <a:r>
              <a:rPr lang="en" sz="1864" dirty="0">
                <a:solidFill>
                  <a:schemeClr val="dk1"/>
                </a:solidFill>
              </a:rPr>
              <a:t>Using a linear matrix formula X1+X2+X3+X4 = Score</a:t>
            </a:r>
            <a:endParaRPr sz="1980" b="1" dirty="0">
              <a:solidFill>
                <a:schemeClr val="dk1"/>
              </a:solidFill>
            </a:endParaRPr>
          </a:p>
          <a:p>
            <a:pPr marL="0" lvl="0" indent="0" algn="l" rtl="0">
              <a:spcBef>
                <a:spcPts val="1200"/>
              </a:spcBef>
              <a:spcAft>
                <a:spcPts val="0"/>
              </a:spcAft>
              <a:buClr>
                <a:schemeClr val="dk1"/>
              </a:buClr>
              <a:buSzPct val="55556"/>
              <a:buFont typeface="Arial"/>
              <a:buNone/>
            </a:pPr>
            <a:endParaRPr sz="1980" b="1" dirty="0">
              <a:solidFill>
                <a:schemeClr val="dk1"/>
              </a:solidFill>
            </a:endParaRPr>
          </a:p>
          <a:p>
            <a:pPr marL="0" lvl="0" indent="0" algn="l" rtl="0">
              <a:spcBef>
                <a:spcPts val="1200"/>
              </a:spcBef>
              <a:spcAft>
                <a:spcPts val="0"/>
              </a:spcAft>
              <a:buClr>
                <a:schemeClr val="dk1"/>
              </a:buClr>
              <a:buSzPct val="55556"/>
              <a:buFont typeface="Arial"/>
              <a:buNone/>
            </a:pPr>
            <a:endParaRPr sz="1980" b="1" dirty="0">
              <a:solidFill>
                <a:schemeClr val="dk1"/>
              </a:solidFill>
            </a:endParaRPr>
          </a:p>
          <a:p>
            <a:pPr marL="0" lvl="0" indent="0" algn="l" rtl="0">
              <a:spcBef>
                <a:spcPts val="1200"/>
              </a:spcBef>
              <a:spcAft>
                <a:spcPts val="1200"/>
              </a:spcAft>
              <a:buClr>
                <a:schemeClr val="dk1"/>
              </a:buClr>
              <a:buSzPct val="84615"/>
              <a:buFont typeface="Arial"/>
              <a:buNone/>
            </a:pPr>
            <a:endParaRPr b="1" dirty="0"/>
          </a:p>
        </p:txBody>
      </p:sp>
      <p:sp>
        <p:nvSpPr>
          <p:cNvPr id="161" name="Google Shape;161;p26"/>
          <p:cNvSpPr txBox="1"/>
          <p:nvPr/>
        </p:nvSpPr>
        <p:spPr>
          <a:xfrm>
            <a:off x="5144100" y="4667100"/>
            <a:ext cx="3999900" cy="47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u="sng">
                <a:solidFill>
                  <a:schemeClr val="dk1"/>
                </a:solidFill>
              </a:rPr>
              <a:t>General targeted areas highlighted in next slide</a:t>
            </a:r>
            <a:endParaRPr sz="1300" b="1" u="sng">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7"/>
          <p:cNvSpPr txBox="1">
            <a:spLocks noGrp="1"/>
          </p:cNvSpPr>
          <p:nvPr>
            <p:ph type="title"/>
          </p:nvPr>
        </p:nvSpPr>
        <p:spPr>
          <a:xfrm>
            <a:off x="153000" y="1921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Explored Ranking Methods - Graphs</a:t>
            </a:r>
            <a:endParaRPr dirty="0"/>
          </a:p>
        </p:txBody>
      </p:sp>
      <p:sp>
        <p:nvSpPr>
          <p:cNvPr id="167" name="Google Shape;167;p27"/>
          <p:cNvSpPr txBox="1"/>
          <p:nvPr/>
        </p:nvSpPr>
        <p:spPr>
          <a:xfrm>
            <a:off x="0" y="877150"/>
            <a:ext cx="14412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b="1">
                <a:solidFill>
                  <a:srgbClr val="CCCCCC"/>
                </a:solidFill>
              </a:rPr>
              <a:t>Method 1:</a:t>
            </a:r>
            <a:endParaRPr>
              <a:solidFill>
                <a:srgbClr val="CCCCCC"/>
              </a:solidFill>
            </a:endParaRPr>
          </a:p>
        </p:txBody>
      </p:sp>
      <p:sp>
        <p:nvSpPr>
          <p:cNvPr id="168" name="Google Shape;168;p27"/>
          <p:cNvSpPr txBox="1"/>
          <p:nvPr/>
        </p:nvSpPr>
        <p:spPr>
          <a:xfrm>
            <a:off x="4645550" y="877150"/>
            <a:ext cx="14412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b="1">
                <a:solidFill>
                  <a:srgbClr val="CCCCCC"/>
                </a:solidFill>
              </a:rPr>
              <a:t>Method 2:</a:t>
            </a:r>
            <a:endParaRPr>
              <a:solidFill>
                <a:srgbClr val="CCCCCC"/>
              </a:solidFill>
            </a:endParaRPr>
          </a:p>
        </p:txBody>
      </p:sp>
      <p:pic>
        <p:nvPicPr>
          <p:cNvPr id="169" name="Google Shape;169;p27"/>
          <p:cNvPicPr preferRelativeResize="0"/>
          <p:nvPr/>
        </p:nvPicPr>
        <p:blipFill rotWithShape="1">
          <a:blip r:embed="rId3">
            <a:alphaModFix/>
          </a:blip>
          <a:srcRect t="-2404" r="21067" b="-329"/>
          <a:stretch/>
        </p:blipFill>
        <p:spPr>
          <a:xfrm>
            <a:off x="79000" y="1277350"/>
            <a:ext cx="4467499" cy="3873001"/>
          </a:xfrm>
          <a:prstGeom prst="rect">
            <a:avLst/>
          </a:prstGeom>
          <a:noFill/>
          <a:ln>
            <a:noFill/>
          </a:ln>
        </p:spPr>
      </p:pic>
      <p:pic>
        <p:nvPicPr>
          <p:cNvPr id="170" name="Google Shape;170;p27"/>
          <p:cNvPicPr preferRelativeResize="0"/>
          <p:nvPr/>
        </p:nvPicPr>
        <p:blipFill rotWithShape="1">
          <a:blip r:embed="rId4">
            <a:alphaModFix/>
          </a:blip>
          <a:srcRect l="451" r="20423" b="-1709"/>
          <a:stretch/>
        </p:blipFill>
        <p:spPr>
          <a:xfrm>
            <a:off x="4585744" y="1362906"/>
            <a:ext cx="4493149" cy="3846974"/>
          </a:xfrm>
          <a:prstGeom prst="rect">
            <a:avLst/>
          </a:prstGeom>
          <a:noFill/>
          <a:ln>
            <a:noFill/>
          </a:ln>
        </p:spPr>
      </p:pic>
      <p:pic>
        <p:nvPicPr>
          <p:cNvPr id="171" name="Google Shape;171;p27"/>
          <p:cNvPicPr preferRelativeResize="0"/>
          <p:nvPr/>
        </p:nvPicPr>
        <p:blipFill>
          <a:blip r:embed="rId5">
            <a:alphaModFix/>
          </a:blip>
          <a:stretch>
            <a:fillRect/>
          </a:stretch>
        </p:blipFill>
        <p:spPr>
          <a:xfrm>
            <a:off x="7093463" y="147813"/>
            <a:ext cx="1971675" cy="904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title"/>
          </p:nvPr>
        </p:nvSpPr>
        <p:spPr>
          <a:xfrm>
            <a:off x="259975" y="260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Final Ranking Approach</a:t>
            </a:r>
            <a:endParaRPr/>
          </a:p>
        </p:txBody>
      </p:sp>
      <p:sp>
        <p:nvSpPr>
          <p:cNvPr id="177" name="Google Shape;177;p28"/>
          <p:cNvSpPr txBox="1">
            <a:spLocks noGrp="1"/>
          </p:cNvSpPr>
          <p:nvPr>
            <p:ph type="body" idx="1"/>
          </p:nvPr>
        </p:nvSpPr>
        <p:spPr>
          <a:xfrm>
            <a:off x="370825" y="1566300"/>
            <a:ext cx="3999900" cy="35772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100" b="1">
                <a:solidFill>
                  <a:schemeClr val="dk1"/>
                </a:solidFill>
              </a:rPr>
              <a:t>Rank key metrics using percentile ranks</a:t>
            </a:r>
            <a:endParaRPr sz="1100" b="1">
              <a:solidFill>
                <a:schemeClr val="dk1"/>
              </a:solidFill>
            </a:endParaRPr>
          </a:p>
          <a:p>
            <a:pPr marL="457200" lvl="0" indent="-298450" algn="l" rtl="0">
              <a:spcBef>
                <a:spcPts val="1200"/>
              </a:spcBef>
              <a:spcAft>
                <a:spcPts val="0"/>
              </a:spcAft>
              <a:buClr>
                <a:schemeClr val="dk1"/>
              </a:buClr>
              <a:buSzPts val="1100"/>
              <a:buChar char="●"/>
            </a:pPr>
            <a:r>
              <a:rPr lang="en" sz="1100" b="1">
                <a:solidFill>
                  <a:schemeClr val="dk1"/>
                </a:solidFill>
              </a:rPr>
              <a:t>Flow Rank:</a:t>
            </a:r>
            <a:r>
              <a:rPr lang="en" sz="1100">
                <a:solidFill>
                  <a:schemeClr val="dk1"/>
                </a:solidFill>
              </a:rPr>
              <a:t> Percentile rank of monthly average document flow</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Gap Rank:</a:t>
            </a:r>
            <a:r>
              <a:rPr lang="en" sz="1100">
                <a:solidFill>
                  <a:schemeClr val="dk1"/>
                </a:solidFill>
              </a:rPr>
              <a:t> Percentile rank of the store gap metric</a:t>
            </a:r>
            <a:endParaRPr sz="1100">
              <a:solidFill>
                <a:schemeClr val="dk1"/>
              </a:solidFill>
            </a:endParaRPr>
          </a:p>
          <a:p>
            <a:pPr marL="0" lvl="0" indent="0" algn="l" rtl="0">
              <a:spcBef>
                <a:spcPts val="1200"/>
              </a:spcBef>
              <a:spcAft>
                <a:spcPts val="0"/>
              </a:spcAft>
              <a:buNone/>
            </a:pPr>
            <a:r>
              <a:rPr lang="en" sz="1100" b="1">
                <a:solidFill>
                  <a:schemeClr val="dk1"/>
                </a:solidFill>
              </a:rPr>
              <a:t>Compute composite score</a:t>
            </a:r>
            <a:endParaRPr sz="1100" b="1">
              <a:solidFill>
                <a:schemeClr val="dk1"/>
              </a:solidFill>
            </a:endParaRPr>
          </a:p>
          <a:p>
            <a:pPr marL="457200" lvl="0" indent="-298450" algn="l" rtl="0">
              <a:spcBef>
                <a:spcPts val="1200"/>
              </a:spcBef>
              <a:spcAft>
                <a:spcPts val="0"/>
              </a:spcAft>
              <a:buClr>
                <a:schemeClr val="dk1"/>
              </a:buClr>
              <a:buSzPts val="1100"/>
              <a:buChar char="●"/>
            </a:pPr>
            <a:r>
              <a:rPr lang="en" sz="1100" b="1">
                <a:solidFill>
                  <a:schemeClr val="dk1"/>
                </a:solidFill>
              </a:rPr>
              <a:t>40%</a:t>
            </a:r>
            <a:r>
              <a:rPr lang="en" sz="1100">
                <a:solidFill>
                  <a:schemeClr val="dk1"/>
                </a:solidFill>
              </a:rPr>
              <a:t> Document Flow Rank</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60%</a:t>
            </a:r>
            <a:r>
              <a:rPr lang="en" sz="1100">
                <a:solidFill>
                  <a:schemeClr val="dk1"/>
                </a:solidFill>
              </a:rPr>
              <a:t> Store Gap Rank</a:t>
            </a:r>
            <a:endParaRPr sz="1100">
              <a:solidFill>
                <a:schemeClr val="dk1"/>
              </a:solidFill>
            </a:endParaRPr>
          </a:p>
          <a:p>
            <a:pPr marL="0" lvl="0" indent="0" algn="l" rtl="0">
              <a:spcBef>
                <a:spcPts val="1200"/>
              </a:spcBef>
              <a:spcAft>
                <a:spcPts val="0"/>
              </a:spcAft>
              <a:buNone/>
            </a:pPr>
            <a:r>
              <a:rPr lang="en" sz="1100" b="1">
                <a:solidFill>
                  <a:schemeClr val="dk1"/>
                </a:solidFill>
              </a:rPr>
              <a:t>Filter and select top targets</a:t>
            </a:r>
            <a:endParaRPr sz="1100" b="1">
              <a:solidFill>
                <a:schemeClr val="dk1"/>
              </a:solidFill>
            </a:endParaRPr>
          </a:p>
          <a:p>
            <a:pPr marL="457200" lvl="0" indent="-298450" algn="l" rtl="0">
              <a:spcBef>
                <a:spcPts val="1200"/>
              </a:spcBef>
              <a:spcAft>
                <a:spcPts val="0"/>
              </a:spcAft>
              <a:buClr>
                <a:schemeClr val="dk1"/>
              </a:buClr>
              <a:buSzPts val="1100"/>
              <a:buChar char="●"/>
            </a:pPr>
            <a:r>
              <a:rPr lang="en" sz="1100">
                <a:solidFill>
                  <a:schemeClr val="dk1"/>
                </a:solidFill>
              </a:rPr>
              <a:t>Only include orgs where </a:t>
            </a:r>
            <a:r>
              <a:rPr lang="en" sz="1100" b="1">
                <a:solidFill>
                  <a:schemeClr val="dk1"/>
                </a:solidFill>
              </a:rPr>
              <a:t>store_gap &gt; 0</a:t>
            </a:r>
            <a:endParaRPr sz="1100" b="1">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Top 100</a:t>
            </a:r>
            <a:r>
              <a:rPr lang="en" sz="1100">
                <a:solidFill>
                  <a:schemeClr val="dk1"/>
                </a:solidFill>
              </a:rPr>
              <a:t> organizations by highest composite score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1676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
              <a:t>Final Ranking Approach - Graph</a:t>
            </a:r>
            <a:endParaRPr/>
          </a:p>
        </p:txBody>
      </p:sp>
      <p:pic>
        <p:nvPicPr>
          <p:cNvPr id="183" name="Google Shape;183;p29"/>
          <p:cNvPicPr preferRelativeResize="0"/>
          <p:nvPr/>
        </p:nvPicPr>
        <p:blipFill>
          <a:blip r:embed="rId3">
            <a:alphaModFix/>
          </a:blip>
          <a:stretch>
            <a:fillRect/>
          </a:stretch>
        </p:blipFill>
        <p:spPr>
          <a:xfrm>
            <a:off x="7031313" y="173538"/>
            <a:ext cx="1971675" cy="904875"/>
          </a:xfrm>
          <a:prstGeom prst="rect">
            <a:avLst/>
          </a:prstGeom>
          <a:noFill/>
          <a:ln>
            <a:noFill/>
          </a:ln>
        </p:spPr>
      </p:pic>
      <p:pic>
        <p:nvPicPr>
          <p:cNvPr id="184" name="Google Shape;184;p29"/>
          <p:cNvPicPr preferRelativeResize="0"/>
          <p:nvPr/>
        </p:nvPicPr>
        <p:blipFill>
          <a:blip r:embed="rId4">
            <a:alphaModFix/>
          </a:blip>
          <a:stretch>
            <a:fillRect/>
          </a:stretch>
        </p:blipFill>
        <p:spPr>
          <a:xfrm>
            <a:off x="2244725" y="1306625"/>
            <a:ext cx="4477850" cy="37956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260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Top 10 Opportunities</a:t>
            </a:r>
            <a:endParaRPr/>
          </a:p>
        </p:txBody>
      </p:sp>
      <p:pic>
        <p:nvPicPr>
          <p:cNvPr id="190" name="Google Shape;190;p30"/>
          <p:cNvPicPr preferRelativeResize="0"/>
          <p:nvPr/>
        </p:nvPicPr>
        <p:blipFill>
          <a:blip r:embed="rId3">
            <a:alphaModFix/>
          </a:blip>
          <a:stretch>
            <a:fillRect/>
          </a:stretch>
        </p:blipFill>
        <p:spPr>
          <a:xfrm>
            <a:off x="131200" y="2254325"/>
            <a:ext cx="8881577" cy="2103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1"/>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Problems Encountered</a:t>
            </a:r>
            <a:endParaRPr/>
          </a:p>
        </p:txBody>
      </p:sp>
      <p:sp>
        <p:nvSpPr>
          <p:cNvPr id="196" name="Google Shape;196;p31"/>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For the future, we have to account for emojis of all things as this messed up our python scripts when trying to name things automatically.</a:t>
            </a:r>
            <a:endParaRPr/>
          </a:p>
          <a:p>
            <a:pPr marL="457200" lvl="0" indent="-311150" algn="l" rtl="0">
              <a:spcBef>
                <a:spcPts val="0"/>
              </a:spcBef>
              <a:spcAft>
                <a:spcPts val="0"/>
              </a:spcAft>
              <a:buSzPts val="1300"/>
              <a:buChar char="-"/>
            </a:pPr>
            <a:r>
              <a:rPr lang="en"/>
              <a:t>All data pulled should also be verified. There are some UPCs that didn’t get named properly, though they are accounted for as far as a UPC for that organization.</a:t>
            </a:r>
            <a:endParaRPr/>
          </a:p>
          <a:p>
            <a:pPr marL="457200" lvl="0" indent="-311150" algn="l" rtl="0">
              <a:spcBef>
                <a:spcPts val="0"/>
              </a:spcBef>
              <a:spcAft>
                <a:spcPts val="0"/>
              </a:spcAft>
              <a:buSzPts val="1300"/>
              <a:buChar char="-"/>
            </a:pPr>
            <a:r>
              <a:rPr lang="en"/>
              <a:t>Unifying the data between not just people, but groups is very difficult. Not to mention, ensuring that no problems occur when transferring data.</a:t>
            </a:r>
            <a:endParaRPr/>
          </a:p>
          <a:p>
            <a:pPr marL="457200" lvl="0" indent="-311150" algn="l" rtl="0">
              <a:spcBef>
                <a:spcPts val="0"/>
              </a:spcBef>
              <a:spcAft>
                <a:spcPts val="0"/>
              </a:spcAft>
              <a:buSzPts val="1300"/>
              <a:buChar char="-"/>
            </a:pPr>
            <a:r>
              <a:rPr lang="en"/>
              <a:t>Some products pulled have a max value of 0 and a min value of 0. These could be discontinued or generally not sold to the public and probably shouldn’t be considered, but it would take more scripting and work to eliminate these from the weights than time allows.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Future Considerations</a:t>
            </a:r>
            <a:endParaRPr/>
          </a:p>
        </p:txBody>
      </p:sp>
      <p:sp>
        <p:nvSpPr>
          <p:cNvPr id="202" name="Google Shape;202;p32"/>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With the advancement of technology and, given more time, AI could be used to investigate more potential customer contacts. (Keras can be used to spot potential outliers, for example.) </a:t>
            </a:r>
            <a:endParaRPr/>
          </a:p>
          <a:p>
            <a:pPr marL="0" lvl="0" indent="0" algn="l" rtl="0">
              <a:spcBef>
                <a:spcPts val="1200"/>
              </a:spcBef>
              <a:spcAft>
                <a:spcPts val="1200"/>
              </a:spcAft>
              <a:buNone/>
            </a:pPr>
            <a:r>
              <a:rPr lang="en"/>
              <a:t>While we had a lot of information from the company itself, we don’t have data regarding successful or failure of outreaches. If we had results from previous years and how successful their outreaches have been for instance, we can much better weigh the top opportunities.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1307450" y="1999050"/>
            <a:ext cx="2452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2873</Words>
  <Application>Microsoft Office PowerPoint</Application>
  <PresentationFormat>On-screen Show (16:9)</PresentationFormat>
  <Paragraphs>275</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Merriweather</vt:lpstr>
      <vt:lpstr>Roboto</vt:lpstr>
      <vt:lpstr>Times New Roman</vt:lpstr>
      <vt:lpstr>Arial</vt:lpstr>
      <vt:lpstr>Paradigm</vt:lpstr>
      <vt:lpstr>Group 1 Project</vt:lpstr>
      <vt:lpstr>Project Scope</vt:lpstr>
      <vt:lpstr>Steps Performed (Overview)</vt:lpstr>
      <vt:lpstr>Data Processing Pipeline</vt:lpstr>
      <vt:lpstr>Final 450K Sample</vt:lpstr>
      <vt:lpstr>API and Database Operations</vt:lpstr>
      <vt:lpstr>API Data Processing Pipeline </vt:lpstr>
      <vt:lpstr>Finalized Dataset </vt:lpstr>
      <vt:lpstr>Modeling and Exploration</vt:lpstr>
      <vt:lpstr>Feature Engineering</vt:lpstr>
      <vt:lpstr>Exploratory Data Analysis</vt:lpstr>
      <vt:lpstr>Exploratory Data Analysis</vt:lpstr>
      <vt:lpstr>Exploratory Data Analysis</vt:lpstr>
      <vt:lpstr>Explored Ranking Methods</vt:lpstr>
      <vt:lpstr>Explored Ranking Methods - Graphs</vt:lpstr>
      <vt:lpstr>Final Ranking Approach</vt:lpstr>
      <vt:lpstr>Final Ranking Approach - Graph</vt:lpstr>
      <vt:lpstr>Top 10 Opportunities</vt:lpstr>
      <vt:lpstr>Problems Encountered</vt:lpstr>
      <vt:lpstr>Future Considerations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jake olson</cp:lastModifiedBy>
  <cp:revision>1</cp:revision>
  <dcterms:modified xsi:type="dcterms:W3CDTF">2026-08-02T18:34:17Z</dcterms:modified>
</cp:coreProperties>
</file>